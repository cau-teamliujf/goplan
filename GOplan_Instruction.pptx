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6" r:id="rId2"/>
    <p:sldId id="257" r:id="rId3"/>
    <p:sldId id="258" r:id="rId4"/>
    <p:sldId id="260" r:id="rId5"/>
    <p:sldId id="275" r:id="rId6"/>
    <p:sldId id="278" r:id="rId7"/>
    <p:sldId id="277" r:id="rId8"/>
    <p:sldId id="276" r:id="rId9"/>
    <p:sldId id="266" r:id="rId10"/>
    <p:sldId id="267" r:id="rId11"/>
    <p:sldId id="259" r:id="rId12"/>
    <p:sldId id="261" r:id="rId13"/>
    <p:sldId id="262" r:id="rId14"/>
    <p:sldId id="263" r:id="rId15"/>
    <p:sldId id="264" r:id="rId16"/>
    <p:sldId id="265" r:id="rId17"/>
    <p:sldId id="268" r:id="rId18"/>
    <p:sldId id="279" r:id="rId19"/>
    <p:sldId id="272" r:id="rId20"/>
    <p:sldId id="273" r:id="rId21"/>
    <p:sldId id="269" r:id="rId22"/>
    <p:sldId id="280" r:id="rId23"/>
    <p:sldId id="274"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645"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E0857-8F89-4457-A714-A77A66401948}" type="datetimeFigureOut">
              <a:rPr lang="zh-CN" altLang="en-US" smtClean="0"/>
              <a:t>2024/9/8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7B9AF-02DC-4080-BE3A-71CF0F16A1F0}" type="slidenum">
              <a:rPr lang="zh-CN" altLang="en-US" smtClean="0"/>
              <a:t>‹#›</a:t>
            </a:fld>
            <a:endParaRPr lang="zh-CN" altLang="en-US"/>
          </a:p>
        </p:txBody>
      </p:sp>
    </p:spTree>
    <p:extLst>
      <p:ext uri="{BB962C8B-B14F-4D97-AF65-F5344CB8AC3E}">
        <p14:creationId xmlns:p14="http://schemas.microsoft.com/office/powerpoint/2010/main" val="80024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37B9AF-02DC-4080-BE3A-71CF0F16A1F0}" type="slidenum">
              <a:rPr lang="zh-CN" altLang="en-US" smtClean="0"/>
              <a:t>5</a:t>
            </a:fld>
            <a:endParaRPr lang="zh-CN" altLang="en-US"/>
          </a:p>
        </p:txBody>
      </p:sp>
    </p:spTree>
    <p:extLst>
      <p:ext uri="{BB962C8B-B14F-4D97-AF65-F5344CB8AC3E}">
        <p14:creationId xmlns:p14="http://schemas.microsoft.com/office/powerpoint/2010/main" val="1091312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37B9AF-02DC-4080-BE3A-71CF0F16A1F0}" type="slidenum">
              <a:rPr lang="zh-CN" altLang="en-US" smtClean="0"/>
              <a:t>6</a:t>
            </a:fld>
            <a:endParaRPr lang="zh-CN" altLang="en-US"/>
          </a:p>
        </p:txBody>
      </p:sp>
    </p:spTree>
    <p:extLst>
      <p:ext uri="{BB962C8B-B14F-4D97-AF65-F5344CB8AC3E}">
        <p14:creationId xmlns:p14="http://schemas.microsoft.com/office/powerpoint/2010/main" val="405803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37B9AF-02DC-4080-BE3A-71CF0F16A1F0}" type="slidenum">
              <a:rPr lang="zh-CN" altLang="en-US" smtClean="0"/>
              <a:t>7</a:t>
            </a:fld>
            <a:endParaRPr lang="zh-CN" altLang="en-US"/>
          </a:p>
        </p:txBody>
      </p:sp>
    </p:spTree>
    <p:extLst>
      <p:ext uri="{BB962C8B-B14F-4D97-AF65-F5344CB8AC3E}">
        <p14:creationId xmlns:p14="http://schemas.microsoft.com/office/powerpoint/2010/main" val="2447154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37B9AF-02DC-4080-BE3A-71CF0F16A1F0}" type="slidenum">
              <a:rPr lang="zh-CN" altLang="en-US" smtClean="0"/>
              <a:t>8</a:t>
            </a:fld>
            <a:endParaRPr lang="zh-CN" altLang="en-US"/>
          </a:p>
        </p:txBody>
      </p:sp>
    </p:spTree>
    <p:extLst>
      <p:ext uri="{BB962C8B-B14F-4D97-AF65-F5344CB8AC3E}">
        <p14:creationId xmlns:p14="http://schemas.microsoft.com/office/powerpoint/2010/main" val="1632409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4E3BD8-45E8-4653-B6D8-7190A18F9663}"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694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170125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4E3BD8-45E8-4653-B6D8-7190A18F9663}"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689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592254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5"/>
            <a:ext cx="493776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200416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215350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169004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FB112F-785E-4223-8F54-9DB1EEF8F204}" type="datetimeFigureOut">
              <a:rPr lang="zh-CN" altLang="en-US" smtClean="0"/>
              <a:t>2024/9/8</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2265710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284143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13510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4E3BD8-45E8-4653-B6D8-7190A18F9663}" type="slidenum">
              <a:rPr lang="zh-CN" altLang="en-US" smtClean="0"/>
              <a:t>‹#›</a:t>
            </a:fld>
            <a:endParaRPr lang="zh-CN" altLang="en-US"/>
          </a:p>
        </p:txBody>
      </p:sp>
    </p:spTree>
    <p:extLst>
      <p:ext uri="{BB962C8B-B14F-4D97-AF65-F5344CB8AC3E}">
        <p14:creationId xmlns:p14="http://schemas.microsoft.com/office/powerpoint/2010/main" val="292703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FB112F-785E-4223-8F54-9DB1EEF8F204}" type="datetimeFigureOut">
              <a:rPr lang="zh-CN" altLang="en-US" smtClean="0"/>
              <a:t>2024/9/8</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14E3BD8-45E8-4653-B6D8-7190A18F9663}"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6831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raw.githubusercontent.com/Homebrew/install/HEAD/install.sh"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2DE4C-1640-2197-7266-3803AA9A2CF1}"/>
              </a:ext>
            </a:extLst>
          </p:cNvPr>
          <p:cNvSpPr>
            <a:spLocks noGrp="1"/>
          </p:cNvSpPr>
          <p:nvPr>
            <p:ph type="ctrTitle"/>
          </p:nvPr>
        </p:nvSpPr>
        <p:spPr>
          <a:xfrm>
            <a:off x="1097280" y="1576552"/>
            <a:ext cx="10058400" cy="2748559"/>
          </a:xfrm>
        </p:spPr>
        <p:txBody>
          <a:bodyPr anchor="ctr"/>
          <a:lstStyle/>
          <a:p>
            <a:pPr algn="ctr"/>
            <a:r>
              <a:rPr lang="en-US" altLang="zh-CN" b="1" dirty="0" err="1"/>
              <a:t>GOplan</a:t>
            </a:r>
            <a:r>
              <a:rPr lang="en-US" altLang="zh-CN" b="1" dirty="0"/>
              <a:t> Instruction</a:t>
            </a:r>
            <a:endParaRPr lang="zh-CN" altLang="en-US" b="1" dirty="0"/>
          </a:p>
        </p:txBody>
      </p:sp>
      <p:sp>
        <p:nvSpPr>
          <p:cNvPr id="3" name="副标题 2">
            <a:extLst>
              <a:ext uri="{FF2B5EF4-FFF2-40B4-BE49-F238E27FC236}">
                <a16:creationId xmlns:a16="http://schemas.microsoft.com/office/drawing/2014/main" id="{FC96C73B-CE3A-E7F7-890A-B0596510B8EF}"/>
              </a:ext>
            </a:extLst>
          </p:cNvPr>
          <p:cNvSpPr>
            <a:spLocks noGrp="1"/>
          </p:cNvSpPr>
          <p:nvPr>
            <p:ph type="subTitle" idx="1"/>
          </p:nvPr>
        </p:nvSpPr>
        <p:spPr>
          <a:xfrm>
            <a:off x="1066800" y="4760421"/>
            <a:ext cx="10058400" cy="1143000"/>
          </a:xfrm>
        </p:spPr>
        <p:txBody>
          <a:bodyPr/>
          <a:lstStyle/>
          <a:p>
            <a:pPr algn="ctr"/>
            <a:r>
              <a:rPr lang="en-US" altLang="zh-CN" dirty="0"/>
              <a:t>Qianqian Huang</a:t>
            </a:r>
          </a:p>
          <a:p>
            <a:pPr algn="ctr"/>
            <a:r>
              <a:rPr lang="en-US" altLang="zh-CN" dirty="0"/>
              <a:t>08/30/24</a:t>
            </a:r>
            <a:endParaRPr lang="zh-CN" altLang="en-US" dirty="0"/>
          </a:p>
        </p:txBody>
      </p:sp>
    </p:spTree>
    <p:extLst>
      <p:ext uri="{BB962C8B-B14F-4D97-AF65-F5344CB8AC3E}">
        <p14:creationId xmlns:p14="http://schemas.microsoft.com/office/powerpoint/2010/main" val="41043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1F88EA-5B85-4782-9A95-9C738F48E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10" name="Rectangle 9">
            <a:extLst>
              <a:ext uri="{FF2B5EF4-FFF2-40B4-BE49-F238E27FC236}">
                <a16:creationId xmlns:a16="http://schemas.microsoft.com/office/drawing/2014/main" id="{E9A9E663-1F8A-406B-B295-B1EF8596D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cxnSp>
        <p:nvCxnSpPr>
          <p:cNvPr id="12" name="Straight Connector 11">
            <a:extLst>
              <a:ext uri="{FF2B5EF4-FFF2-40B4-BE49-F238E27FC236}">
                <a16:creationId xmlns:a16="http://schemas.microsoft.com/office/drawing/2014/main" id="{EC97561C-9294-4114-A5D6-9CF6CF68AC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1">
            <a:extLst>
              <a:ext uri="{FF2B5EF4-FFF2-40B4-BE49-F238E27FC236}">
                <a16:creationId xmlns:a16="http://schemas.microsoft.com/office/drawing/2014/main" id="{24867088-4110-0093-954D-57D215B00D43}"/>
              </a:ext>
            </a:extLst>
          </p:cNvPr>
          <p:cNvSpPr>
            <a:spLocks noGrp="1"/>
          </p:cNvSpPr>
          <p:nvPr>
            <p:ph type="title" idx="4294967295"/>
          </p:nvPr>
        </p:nvSpPr>
        <p:spPr>
          <a:xfrm>
            <a:off x="492370" y="605896"/>
            <a:ext cx="3084844" cy="5646208"/>
          </a:xfrm>
        </p:spPr>
        <p:txBody>
          <a:bodyPr vert="horz" lIns="91440" tIns="45720" rIns="91440" bIns="45720" rtlCol="0" anchor="ctr">
            <a:normAutofit/>
          </a:bodyPr>
          <a:lstStyle/>
          <a:p>
            <a:r>
              <a:rPr lang="en-US" altLang="zh-CN" sz="3600" dirty="0">
                <a:solidFill>
                  <a:srgbClr val="FFFFFF"/>
                </a:solidFill>
              </a:rPr>
              <a:t>Introduction</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3" name="内容占位符 2">
            <a:extLst>
              <a:ext uri="{FF2B5EF4-FFF2-40B4-BE49-F238E27FC236}">
                <a16:creationId xmlns:a16="http://schemas.microsoft.com/office/drawing/2014/main" id="{9D0D9B2B-8EAE-399E-319C-4D62042031BE}"/>
              </a:ext>
            </a:extLst>
          </p:cNvPr>
          <p:cNvSpPr>
            <a:spLocks noGrp="1"/>
          </p:cNvSpPr>
          <p:nvPr>
            <p:ph idx="4294967295"/>
          </p:nvPr>
        </p:nvSpPr>
        <p:spPr>
          <a:xfrm>
            <a:off x="4513664" y="605896"/>
            <a:ext cx="7052905" cy="5646208"/>
          </a:xfrm>
        </p:spPr>
        <p:txBody>
          <a:bodyPr vert="horz" lIns="0" tIns="45720" rIns="0" bIns="45720" rtlCol="0" anchor="ctr">
            <a:noAutofit/>
          </a:bodyPr>
          <a:lstStyle/>
          <a:p>
            <a:pPr lvl="1">
              <a:spcBef>
                <a:spcPts val="600"/>
              </a:spcBef>
            </a:pPr>
            <a:r>
              <a:rPr lang="en-US" altLang="zh-CN" sz="2000" b="0" i="0" dirty="0">
                <a:effectLst/>
              </a:rPr>
              <a:t>The design of breeding programs holds significant importance in achieving substantial economic gains. Simulation is the optimal approach because testing the effectiveness of a breeding program through trials is time-consuming and costly. </a:t>
            </a:r>
          </a:p>
          <a:p>
            <a:pPr lvl="1">
              <a:spcBef>
                <a:spcPts val="600"/>
              </a:spcBef>
            </a:pPr>
            <a:r>
              <a:rPr lang="en-US" altLang="zh-CN" sz="2000" b="0" i="0" dirty="0" err="1">
                <a:effectLst/>
              </a:rPr>
              <a:t>GOplan</a:t>
            </a:r>
            <a:r>
              <a:rPr lang="en-US" altLang="zh-CN" sz="2000" b="0" i="0" dirty="0">
                <a:effectLst/>
              </a:rPr>
              <a:t> is an R package tailored to help manage animal breeding programs of both single population and crossbreeding systems, as well as optimize breeding programs. </a:t>
            </a:r>
          </a:p>
          <a:p>
            <a:pPr lvl="1">
              <a:spcBef>
                <a:spcPts val="600"/>
              </a:spcBef>
            </a:pPr>
            <a:r>
              <a:rPr lang="en-US" altLang="zh-CN" sz="2000" b="0" i="0" dirty="0" err="1">
                <a:effectLst/>
              </a:rPr>
              <a:t>GOplan</a:t>
            </a:r>
            <a:r>
              <a:rPr lang="en-US" altLang="zh-CN" sz="2000" b="0" i="0" dirty="0">
                <a:effectLst/>
              </a:rPr>
              <a:t> has three wrapped functions, </a:t>
            </a:r>
            <a:r>
              <a:rPr lang="en-US" altLang="zh-CN" sz="2000" b="0" i="0" dirty="0" err="1">
                <a:effectLst/>
              </a:rPr>
              <a:t>runCore</a:t>
            </a:r>
            <a:r>
              <a:rPr lang="en-US" altLang="zh-CN" sz="2000" b="0" i="0" dirty="0">
                <a:effectLst/>
              </a:rPr>
              <a:t>() for evaluating breeding programs’ genetic progress and population diversity change, </a:t>
            </a:r>
            <a:r>
              <a:rPr lang="en-US" altLang="zh-CN" sz="2000" b="0" i="0" dirty="0" err="1">
                <a:effectLst/>
              </a:rPr>
              <a:t>runWhole</a:t>
            </a:r>
            <a:r>
              <a:rPr lang="en-US" altLang="zh-CN" sz="2000" b="0" i="0" dirty="0">
                <a:effectLst/>
              </a:rPr>
              <a:t>() for predicting crossbreed’s phenotype and evaluating the economic profit of crossbreeding systems, and </a:t>
            </a:r>
            <a:r>
              <a:rPr lang="en-US" altLang="zh-CN" sz="2000" b="0" i="0" dirty="0" err="1">
                <a:effectLst/>
              </a:rPr>
              <a:t>runOpt</a:t>
            </a:r>
            <a:r>
              <a:rPr lang="en-US" altLang="zh-CN" sz="2000" b="0" i="0" dirty="0">
                <a:effectLst/>
              </a:rPr>
              <a:t>() for optimizing breeding programs to get the greatest economic profit. Three demos were displayed to demonstrate its function. </a:t>
            </a:r>
          </a:p>
          <a:p>
            <a:pPr lvl="1">
              <a:spcBef>
                <a:spcPts val="600"/>
              </a:spcBef>
            </a:pPr>
            <a:r>
              <a:rPr lang="en-US" altLang="zh-CN" sz="2000" b="0" i="0" dirty="0" err="1">
                <a:effectLst/>
              </a:rPr>
              <a:t>GOplan</a:t>
            </a:r>
            <a:r>
              <a:rPr lang="en-US" altLang="zh-CN" sz="2000" b="0" i="0" dirty="0">
                <a:effectLst/>
              </a:rPr>
              <a:t> is a user-friendly and comprehensive R package with wrapped mainstream crossbreeding frameworks, which simplify the process of constructing crossbreeding systems. It also supports breeding program optimization by using the Bayesian optimization method.</a:t>
            </a:r>
            <a:endParaRPr lang="en-US" altLang="zh-CN" sz="2000" dirty="0"/>
          </a:p>
        </p:txBody>
      </p:sp>
    </p:spTree>
    <p:extLst>
      <p:ext uri="{BB962C8B-B14F-4D97-AF65-F5344CB8AC3E}">
        <p14:creationId xmlns:p14="http://schemas.microsoft.com/office/powerpoint/2010/main" val="3996572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EEB6D-E15C-F749-C5AB-52530BB5FE49}"/>
              </a:ext>
            </a:extLst>
          </p:cNvPr>
          <p:cNvSpPr>
            <a:spLocks noGrp="1"/>
          </p:cNvSpPr>
          <p:nvPr>
            <p:ph type="title"/>
          </p:nvPr>
        </p:nvSpPr>
        <p:spPr>
          <a:xfrm>
            <a:off x="1097280" y="767342"/>
            <a:ext cx="10058400" cy="2730868"/>
          </a:xfrm>
        </p:spPr>
        <p:txBody>
          <a:bodyPr/>
          <a:lstStyle/>
          <a:p>
            <a:pPr algn="ctr"/>
            <a:r>
              <a:rPr lang="en-US" altLang="zh-CN" dirty="0"/>
              <a:t>Installation</a:t>
            </a:r>
            <a:endParaRPr lang="zh-CN" altLang="en-US" dirty="0"/>
          </a:p>
        </p:txBody>
      </p:sp>
      <p:sp>
        <p:nvSpPr>
          <p:cNvPr id="3" name="文本占位符 2">
            <a:extLst>
              <a:ext uri="{FF2B5EF4-FFF2-40B4-BE49-F238E27FC236}">
                <a16:creationId xmlns:a16="http://schemas.microsoft.com/office/drawing/2014/main" id="{4FE24BD7-70BA-D30A-398F-CAF3B2FF83DF}"/>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3456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a:latin typeface="+mj-lt"/>
              </a:rPr>
              <a:t>How to install?</a:t>
            </a:r>
            <a:endParaRPr lang="zh-CN" altLang="en-US" sz="3200" dirty="0">
              <a:latin typeface="+mj-lt"/>
            </a:endParaRPr>
          </a:p>
        </p:txBody>
      </p:sp>
      <p:sp>
        <p:nvSpPr>
          <p:cNvPr id="4" name="文本框 3">
            <a:extLst>
              <a:ext uri="{FF2B5EF4-FFF2-40B4-BE49-F238E27FC236}">
                <a16:creationId xmlns:a16="http://schemas.microsoft.com/office/drawing/2014/main" id="{C8D98D54-C29C-91DD-C370-E091CF56BE2D}"/>
              </a:ext>
            </a:extLst>
          </p:cNvPr>
          <p:cNvSpPr txBox="1"/>
          <p:nvPr/>
        </p:nvSpPr>
        <p:spPr>
          <a:xfrm>
            <a:off x="1587966" y="1931121"/>
            <a:ext cx="9016068" cy="2358787"/>
          </a:xfrm>
          <a:prstGeom prst="rect">
            <a:avLst/>
          </a:prstGeom>
          <a:solidFill>
            <a:schemeClr val="bg2"/>
          </a:solidFill>
        </p:spPr>
        <p:txBody>
          <a:bodyPr wrap="square">
            <a:spAutoFit/>
          </a:bodyPr>
          <a:lstStyle/>
          <a:p>
            <a:pPr algn="l">
              <a:lnSpc>
                <a:spcPct val="200000"/>
              </a:lnSpc>
              <a:spcBef>
                <a:spcPts val="600"/>
              </a:spcBef>
            </a:pPr>
            <a:r>
              <a:rPr lang="en-US" altLang="zh-CN" sz="2400" b="0" i="0" dirty="0" err="1">
                <a:solidFill>
                  <a:srgbClr val="1F2328"/>
                </a:solidFill>
                <a:effectLst/>
                <a:latin typeface="-apple-system"/>
              </a:rPr>
              <a:t>Install.packages</a:t>
            </a:r>
            <a:r>
              <a:rPr lang="en-US" altLang="zh-CN" sz="2400" b="0" i="0" dirty="0">
                <a:solidFill>
                  <a:srgbClr val="1F2328"/>
                </a:solidFill>
                <a:effectLst/>
                <a:latin typeface="-apple-system"/>
              </a:rPr>
              <a:t>(“remotes”)</a:t>
            </a:r>
          </a:p>
          <a:p>
            <a:pPr algn="l">
              <a:lnSpc>
                <a:spcPct val="200000"/>
              </a:lnSpc>
              <a:spcBef>
                <a:spcPts val="600"/>
              </a:spcBef>
            </a:pPr>
            <a:r>
              <a:rPr lang="en-US" altLang="zh-CN" sz="2400" b="0" i="0" dirty="0">
                <a:solidFill>
                  <a:srgbClr val="1F2328"/>
                </a:solidFill>
                <a:effectLst/>
                <a:latin typeface="-apple-system"/>
              </a:rPr>
              <a:t>library(remotes)</a:t>
            </a:r>
          </a:p>
          <a:p>
            <a:pPr algn="l">
              <a:lnSpc>
                <a:spcPct val="200000"/>
              </a:lnSpc>
              <a:spcBef>
                <a:spcPts val="600"/>
              </a:spcBef>
            </a:pPr>
            <a:r>
              <a:rPr lang="en-US" altLang="zh-CN" sz="2400" b="0" i="0" dirty="0">
                <a:solidFill>
                  <a:srgbClr val="1F2328"/>
                </a:solidFill>
                <a:effectLst/>
                <a:latin typeface="-apple-system"/>
              </a:rPr>
              <a:t>remotes::</a:t>
            </a:r>
            <a:r>
              <a:rPr lang="en-US" altLang="zh-CN" sz="2400" b="0" i="0" dirty="0" err="1">
                <a:solidFill>
                  <a:srgbClr val="1F2328"/>
                </a:solidFill>
                <a:effectLst/>
                <a:latin typeface="-apple-system"/>
              </a:rPr>
              <a:t>install_github</a:t>
            </a:r>
            <a:r>
              <a:rPr lang="en-US" altLang="zh-CN" sz="2400" b="0" i="0" dirty="0">
                <a:solidFill>
                  <a:srgbClr val="1F2328"/>
                </a:solidFill>
                <a:effectLst/>
                <a:latin typeface="-apple-system"/>
              </a:rPr>
              <a:t>(“https://github.com/CAU-</a:t>
            </a:r>
            <a:r>
              <a:rPr lang="en-US" altLang="zh-CN" sz="2400" b="0" i="0" dirty="0" err="1">
                <a:solidFill>
                  <a:srgbClr val="1F2328"/>
                </a:solidFill>
                <a:effectLst/>
                <a:latin typeface="-apple-system"/>
              </a:rPr>
              <a:t>TeamLiuJF</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GOplan</a:t>
            </a:r>
            <a:r>
              <a:rPr lang="en-US" altLang="zh-CN" sz="2400" b="0" i="0" dirty="0">
                <a:solidFill>
                  <a:srgbClr val="1F2328"/>
                </a:solidFill>
                <a:effectLst/>
                <a:latin typeface="-apple-system"/>
              </a:rPr>
              <a:t>”)</a:t>
            </a:r>
          </a:p>
        </p:txBody>
      </p:sp>
    </p:spTree>
    <p:extLst>
      <p:ext uri="{BB962C8B-B14F-4D97-AF65-F5344CB8AC3E}">
        <p14:creationId xmlns:p14="http://schemas.microsoft.com/office/powerpoint/2010/main" val="427190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a:latin typeface="+mj-lt"/>
              </a:rPr>
              <a:t>Issues </a:t>
            </a:r>
            <a:r>
              <a:rPr lang="zh-CN" altLang="en-US" sz="3200" b="1" dirty="0">
                <a:latin typeface="+mj-lt"/>
              </a:rPr>
              <a:t> </a:t>
            </a:r>
            <a:r>
              <a:rPr lang="en-US" altLang="zh-CN" sz="3200" b="1" dirty="0">
                <a:latin typeface="+mj-lt"/>
              </a:rPr>
              <a:t>when</a:t>
            </a:r>
            <a:r>
              <a:rPr lang="zh-CN" altLang="en-US" sz="3200" b="1" dirty="0">
                <a:latin typeface="+mj-lt"/>
              </a:rPr>
              <a:t> </a:t>
            </a:r>
            <a:r>
              <a:rPr lang="en-US" altLang="zh-CN" sz="3200" b="1" dirty="0">
                <a:latin typeface="+mj-lt"/>
              </a:rPr>
              <a:t>installed</a:t>
            </a:r>
            <a:r>
              <a:rPr lang="zh-CN" altLang="en-US" sz="3200" b="1" dirty="0">
                <a:latin typeface="+mj-lt"/>
              </a:rPr>
              <a:t> </a:t>
            </a:r>
            <a:r>
              <a:rPr lang="en-US" altLang="zh-CN" sz="3200" b="1" dirty="0">
                <a:latin typeface="+mj-lt"/>
              </a:rPr>
              <a:t>on</a:t>
            </a:r>
            <a:r>
              <a:rPr lang="zh-CN" altLang="en-US" sz="3200" b="1" dirty="0">
                <a:latin typeface="+mj-lt"/>
              </a:rPr>
              <a:t> </a:t>
            </a:r>
            <a:r>
              <a:rPr lang="en-US" altLang="zh-CN" sz="3200" b="1" dirty="0">
                <a:latin typeface="+mj-lt"/>
              </a:rPr>
              <a:t>Mac</a:t>
            </a:r>
            <a:endParaRPr lang="zh-CN" altLang="en-US" sz="3200" dirty="0">
              <a:latin typeface="+mj-lt"/>
            </a:endParaRPr>
          </a:p>
        </p:txBody>
      </p:sp>
      <p:sp>
        <p:nvSpPr>
          <p:cNvPr id="7" name="文本框 6">
            <a:extLst>
              <a:ext uri="{FF2B5EF4-FFF2-40B4-BE49-F238E27FC236}">
                <a16:creationId xmlns:a16="http://schemas.microsoft.com/office/drawing/2014/main" id="{4FC19225-F9AB-6F2F-2696-1C83BB4CE5B2}"/>
              </a:ext>
            </a:extLst>
          </p:cNvPr>
          <p:cNvSpPr txBox="1"/>
          <p:nvPr/>
        </p:nvSpPr>
        <p:spPr>
          <a:xfrm>
            <a:off x="678124" y="970565"/>
            <a:ext cx="6094520" cy="833433"/>
          </a:xfrm>
          <a:prstGeom prst="rect">
            <a:avLst/>
          </a:prstGeom>
          <a:noFill/>
        </p:spPr>
        <p:txBody>
          <a:bodyPr wrap="square">
            <a:spAutoFit/>
          </a:bodyPr>
          <a:lstStyle/>
          <a:p>
            <a:pPr algn="l">
              <a:lnSpc>
                <a:spcPct val="200000"/>
              </a:lnSpc>
              <a:spcBef>
                <a:spcPts val="600"/>
              </a:spcBef>
            </a:pPr>
            <a:r>
              <a:rPr lang="en-US" altLang="zh-CN" sz="2800" b="0" i="0" dirty="0">
                <a:solidFill>
                  <a:srgbClr val="0070C0"/>
                </a:solidFill>
                <a:effectLst/>
                <a:latin typeface="-apple-system"/>
              </a:rPr>
              <a:t>1. Install </a:t>
            </a:r>
            <a:r>
              <a:rPr lang="en-US" altLang="zh-CN" sz="2800" b="0" i="0" dirty="0" err="1">
                <a:solidFill>
                  <a:srgbClr val="0070C0"/>
                </a:solidFill>
                <a:effectLst/>
                <a:latin typeface="-apple-system"/>
              </a:rPr>
              <a:t>libomp</a:t>
            </a:r>
            <a:r>
              <a:rPr lang="en-US" altLang="zh-CN" sz="2800" b="0" i="0" dirty="0">
                <a:solidFill>
                  <a:srgbClr val="0070C0"/>
                </a:solidFill>
                <a:effectLst/>
                <a:latin typeface="-apple-system"/>
              </a:rPr>
              <a:t> </a:t>
            </a:r>
            <a:r>
              <a:rPr lang="en-US" altLang="zh-CN" sz="2800" dirty="0">
                <a:solidFill>
                  <a:srgbClr val="0070C0"/>
                </a:solidFill>
                <a:latin typeface="-apple-system"/>
              </a:rPr>
              <a:t>using brew</a:t>
            </a:r>
            <a:endParaRPr lang="en-US" altLang="zh-CN" sz="2800" b="0" i="0" dirty="0">
              <a:solidFill>
                <a:srgbClr val="0070C0"/>
              </a:solidFill>
              <a:effectLst/>
              <a:latin typeface="-apple-system"/>
            </a:endParaRPr>
          </a:p>
        </p:txBody>
      </p:sp>
      <p:sp>
        <p:nvSpPr>
          <p:cNvPr id="10" name="文本框 9">
            <a:extLst>
              <a:ext uri="{FF2B5EF4-FFF2-40B4-BE49-F238E27FC236}">
                <a16:creationId xmlns:a16="http://schemas.microsoft.com/office/drawing/2014/main" id="{164BB3AA-7EC2-8DA6-DA65-976CDE5200D6}"/>
              </a:ext>
            </a:extLst>
          </p:cNvPr>
          <p:cNvSpPr txBox="1"/>
          <p:nvPr/>
        </p:nvSpPr>
        <p:spPr>
          <a:xfrm>
            <a:off x="1070268" y="2580697"/>
            <a:ext cx="10858205" cy="2616101"/>
          </a:xfrm>
          <a:prstGeom prst="rect">
            <a:avLst/>
          </a:prstGeom>
          <a:solidFill>
            <a:schemeClr val="bg2"/>
          </a:solidFill>
        </p:spPr>
        <p:txBody>
          <a:bodyPr wrap="square">
            <a:spAutoFit/>
          </a:bodyPr>
          <a:lstStyle/>
          <a:p>
            <a:pPr algn="l">
              <a:spcBef>
                <a:spcPts val="600"/>
              </a:spcBef>
            </a:pPr>
            <a:r>
              <a:rPr lang="en-US" altLang="zh-CN" sz="2400" b="0" i="1" dirty="0">
                <a:solidFill>
                  <a:srgbClr val="C00000"/>
                </a:solidFill>
                <a:effectLst/>
                <a:latin typeface="-apple-system"/>
              </a:rPr>
              <a:t># you may change the path highlighted with your own path.</a:t>
            </a:r>
          </a:p>
          <a:p>
            <a:pPr algn="l">
              <a:spcBef>
                <a:spcPts val="600"/>
              </a:spcBef>
            </a:pPr>
            <a:r>
              <a:rPr lang="en-US" altLang="zh-CN" sz="2400" b="0" i="0" dirty="0">
                <a:solidFill>
                  <a:srgbClr val="1F2328"/>
                </a:solidFill>
                <a:effectLst/>
                <a:latin typeface="-apple-system"/>
              </a:rPr>
              <a:t>CXXFLAGS = -</a:t>
            </a:r>
            <a:r>
              <a:rPr lang="en-US" altLang="zh-CN" sz="2400" b="0" i="0" dirty="0" err="1">
                <a:solidFill>
                  <a:srgbClr val="1F2328"/>
                </a:solidFill>
                <a:effectLst/>
                <a:latin typeface="-apple-system"/>
              </a:rPr>
              <a:t>Xpreprocessor</a:t>
            </a:r>
            <a:r>
              <a:rPr lang="en-US" altLang="zh-CN" sz="2400" b="0" i="0" dirty="0">
                <a:solidFill>
                  <a:srgbClr val="1F2328"/>
                </a:solidFill>
                <a:effectLst/>
                <a:latin typeface="-apple-system"/>
              </a:rPr>
              <a:t> -</a:t>
            </a:r>
            <a:r>
              <a:rPr lang="en-US" altLang="zh-CN" sz="2400" b="0" i="0" dirty="0" err="1">
                <a:solidFill>
                  <a:srgbClr val="1F2328"/>
                </a:solidFill>
                <a:effectLst/>
                <a:latin typeface="-apple-system"/>
              </a:rPr>
              <a:t>fopenmp</a:t>
            </a:r>
            <a:r>
              <a:rPr lang="en-US" altLang="zh-CN" sz="2400" b="0" i="0" dirty="0">
                <a:solidFill>
                  <a:srgbClr val="1F2328"/>
                </a:solidFill>
                <a:effectLst/>
                <a:latin typeface="-apple-system"/>
              </a:rPr>
              <a:t> -I/</a:t>
            </a:r>
            <a:r>
              <a:rPr lang="en-US" altLang="zh-CN" sz="2400" b="0" i="0" dirty="0">
                <a:solidFill>
                  <a:srgbClr val="1F2328"/>
                </a:solidFill>
                <a:effectLst/>
                <a:highlight>
                  <a:srgbClr val="FFFF00"/>
                </a:highlight>
                <a:latin typeface="-apple-system"/>
              </a:rPr>
              <a:t>opt/homebrew/opt/</a:t>
            </a:r>
            <a:r>
              <a:rPr lang="en-US" altLang="zh-CN" sz="2400" b="0" i="0" dirty="0" err="1">
                <a:solidFill>
                  <a:srgbClr val="1F2328"/>
                </a:solidFill>
                <a:effectLst/>
                <a:highlight>
                  <a:srgbClr val="FFFF00"/>
                </a:highlight>
                <a:latin typeface="-apple-system"/>
              </a:rPr>
              <a:t>libomp</a:t>
            </a:r>
            <a:r>
              <a:rPr lang="en-US" altLang="zh-CN" sz="2400" b="0" i="0" dirty="0">
                <a:solidFill>
                  <a:srgbClr val="1F2328"/>
                </a:solidFill>
                <a:effectLst/>
                <a:latin typeface="-apple-system"/>
              </a:rPr>
              <a:t>/include</a:t>
            </a:r>
          </a:p>
          <a:p>
            <a:pPr algn="l">
              <a:spcBef>
                <a:spcPts val="600"/>
              </a:spcBef>
            </a:pPr>
            <a:r>
              <a:rPr lang="en-US" altLang="zh-CN" sz="2400" b="0" i="0" dirty="0">
                <a:solidFill>
                  <a:srgbClr val="1F2328"/>
                </a:solidFill>
                <a:effectLst/>
                <a:latin typeface="-apple-system"/>
              </a:rPr>
              <a:t>LDFLAGS = -L/</a:t>
            </a:r>
            <a:r>
              <a:rPr lang="en-US" altLang="zh-CN" sz="2400" b="0" i="0" dirty="0">
                <a:solidFill>
                  <a:srgbClr val="1F2328"/>
                </a:solidFill>
                <a:effectLst/>
                <a:highlight>
                  <a:srgbClr val="FFFF00"/>
                </a:highlight>
                <a:latin typeface="-apple-system"/>
              </a:rPr>
              <a:t>opt/homebrew/opt/</a:t>
            </a:r>
            <a:r>
              <a:rPr lang="en-US" altLang="zh-CN" sz="2400" b="0" i="0" dirty="0" err="1">
                <a:solidFill>
                  <a:srgbClr val="1F2328"/>
                </a:solidFill>
                <a:effectLst/>
                <a:highlight>
                  <a:srgbClr val="FFFF00"/>
                </a:highlight>
                <a:latin typeface="-apple-system"/>
              </a:rPr>
              <a:t>libomp</a:t>
            </a:r>
            <a:r>
              <a:rPr lang="en-US" altLang="zh-CN" sz="2400" b="0" i="0" dirty="0">
                <a:solidFill>
                  <a:srgbClr val="1F2328"/>
                </a:solidFill>
                <a:effectLst/>
                <a:latin typeface="-apple-system"/>
              </a:rPr>
              <a:t>/ lib -</a:t>
            </a:r>
            <a:r>
              <a:rPr lang="en-US" altLang="zh-CN" sz="2400" b="0" i="0" dirty="0" err="1">
                <a:solidFill>
                  <a:srgbClr val="1F2328"/>
                </a:solidFill>
                <a:effectLst/>
                <a:latin typeface="-apple-system"/>
              </a:rPr>
              <a:t>lomp</a:t>
            </a:r>
            <a:endParaRPr lang="en-US" altLang="zh-CN" sz="2400" b="0" i="0" dirty="0">
              <a:solidFill>
                <a:srgbClr val="1F2328"/>
              </a:solidFill>
              <a:effectLst/>
              <a:latin typeface="-apple-system"/>
            </a:endParaRPr>
          </a:p>
          <a:p>
            <a:pPr algn="l">
              <a:spcBef>
                <a:spcPts val="600"/>
              </a:spcBef>
            </a:pPr>
            <a:r>
              <a:rPr lang="en-US" altLang="zh-CN" sz="2400" b="0" i="0" dirty="0">
                <a:solidFill>
                  <a:srgbClr val="1F2328"/>
                </a:solidFill>
                <a:effectLst/>
                <a:latin typeface="-apple-system"/>
              </a:rPr>
              <a:t>PKG_CPPFLAGS = -DARMA_64BIT_WORD=1</a:t>
            </a:r>
          </a:p>
          <a:p>
            <a:pPr algn="l">
              <a:spcBef>
                <a:spcPts val="600"/>
              </a:spcBef>
            </a:pPr>
            <a:r>
              <a:rPr lang="en-US" altLang="zh-CN" sz="2400" b="0" i="0" dirty="0">
                <a:solidFill>
                  <a:srgbClr val="1F2328"/>
                </a:solidFill>
                <a:effectLst/>
                <a:latin typeface="-apple-system"/>
              </a:rPr>
              <a:t>PKG_LIBS = $(LDFLAGS) $(LAPACK_LIBS) $(BLAS_LIBS) $(FLIBS) -L/ </a:t>
            </a:r>
            <a:r>
              <a:rPr lang="en-US" altLang="zh-CN" sz="2400" b="0" i="0" dirty="0">
                <a:solidFill>
                  <a:srgbClr val="1F2328"/>
                </a:solidFill>
                <a:effectLst/>
                <a:highlight>
                  <a:srgbClr val="FFFF00"/>
                </a:highlight>
                <a:latin typeface="-apple-system"/>
              </a:rPr>
              <a:t>opt/homebrew/opt/</a:t>
            </a:r>
            <a:r>
              <a:rPr lang="en-US" altLang="zh-CN" sz="2400" b="0" i="0" dirty="0" err="1">
                <a:solidFill>
                  <a:srgbClr val="1F2328"/>
                </a:solidFill>
                <a:effectLst/>
                <a:highlight>
                  <a:srgbClr val="FFFF00"/>
                </a:highlight>
                <a:latin typeface="-apple-system"/>
              </a:rPr>
              <a:t>libomp</a:t>
            </a:r>
            <a:r>
              <a:rPr lang="en-US" altLang="zh-CN" sz="2400" b="0" i="0" dirty="0">
                <a:solidFill>
                  <a:srgbClr val="1F2328"/>
                </a:solidFill>
                <a:effectLst/>
                <a:latin typeface="-apple-system"/>
              </a:rPr>
              <a:t>/ lib -</a:t>
            </a:r>
            <a:r>
              <a:rPr lang="en-US" altLang="zh-CN" sz="2400" b="0" i="0" dirty="0" err="1">
                <a:solidFill>
                  <a:srgbClr val="1F2328"/>
                </a:solidFill>
                <a:effectLst/>
                <a:latin typeface="-apple-system"/>
              </a:rPr>
              <a:t>lomp</a:t>
            </a:r>
            <a:endParaRPr lang="en-US" altLang="zh-CN" sz="2400" b="0" i="0" dirty="0">
              <a:solidFill>
                <a:srgbClr val="1F2328"/>
              </a:solidFill>
              <a:effectLst/>
              <a:latin typeface="-apple-system"/>
            </a:endParaRPr>
          </a:p>
        </p:txBody>
      </p:sp>
      <p:sp>
        <p:nvSpPr>
          <p:cNvPr id="11" name="文本框 10">
            <a:extLst>
              <a:ext uri="{FF2B5EF4-FFF2-40B4-BE49-F238E27FC236}">
                <a16:creationId xmlns:a16="http://schemas.microsoft.com/office/drawing/2014/main" id="{D98DDCC1-0754-AB12-19F9-1A4AA95A8011}"/>
              </a:ext>
            </a:extLst>
          </p:cNvPr>
          <p:cNvSpPr txBox="1"/>
          <p:nvPr/>
        </p:nvSpPr>
        <p:spPr>
          <a:xfrm>
            <a:off x="951397" y="1661202"/>
            <a:ext cx="6094602" cy="727571"/>
          </a:xfrm>
          <a:prstGeom prst="rect">
            <a:avLst/>
          </a:prstGeom>
          <a:noFill/>
        </p:spPr>
        <p:txBody>
          <a:bodyPr wrap="square">
            <a:spAutoFit/>
          </a:bodyPr>
          <a:lstStyle/>
          <a:p>
            <a:pPr algn="l">
              <a:lnSpc>
                <a:spcPct val="200000"/>
              </a:lnSpc>
              <a:spcBef>
                <a:spcPts val="600"/>
              </a:spcBef>
            </a:pPr>
            <a:r>
              <a:rPr lang="en-US" altLang="zh-CN" sz="2400" dirty="0">
                <a:solidFill>
                  <a:srgbClr val="1F2328"/>
                </a:solidFill>
                <a:latin typeface="-apple-system"/>
              </a:rPr>
              <a:t>Add below code in your ~/.R/</a:t>
            </a:r>
            <a:r>
              <a:rPr lang="en-US" altLang="zh-CN" sz="2400" dirty="0" err="1">
                <a:solidFill>
                  <a:srgbClr val="1F2328"/>
                </a:solidFill>
                <a:latin typeface="-apple-system"/>
              </a:rPr>
              <a:t>Makevars</a:t>
            </a:r>
            <a:endParaRPr lang="en-US" altLang="zh-CN" sz="2400" dirty="0">
              <a:solidFill>
                <a:srgbClr val="1F2328"/>
              </a:solidFill>
              <a:latin typeface="-apple-system"/>
            </a:endParaRPr>
          </a:p>
        </p:txBody>
      </p:sp>
      <p:sp>
        <p:nvSpPr>
          <p:cNvPr id="12" name="文本框 11">
            <a:extLst>
              <a:ext uri="{FF2B5EF4-FFF2-40B4-BE49-F238E27FC236}">
                <a16:creationId xmlns:a16="http://schemas.microsoft.com/office/drawing/2014/main" id="{9D89EB4B-7C82-2D76-A62C-8D5789852FB5}"/>
              </a:ext>
            </a:extLst>
          </p:cNvPr>
          <p:cNvSpPr txBox="1"/>
          <p:nvPr/>
        </p:nvSpPr>
        <p:spPr>
          <a:xfrm>
            <a:off x="951397" y="5388722"/>
            <a:ext cx="10355564" cy="727571"/>
          </a:xfrm>
          <a:prstGeom prst="rect">
            <a:avLst/>
          </a:prstGeom>
          <a:noFill/>
        </p:spPr>
        <p:txBody>
          <a:bodyPr wrap="square">
            <a:spAutoFit/>
          </a:bodyPr>
          <a:lstStyle/>
          <a:p>
            <a:pPr algn="l">
              <a:lnSpc>
                <a:spcPct val="200000"/>
              </a:lnSpc>
              <a:spcBef>
                <a:spcPts val="600"/>
              </a:spcBef>
            </a:pPr>
            <a:r>
              <a:rPr lang="en-US" altLang="zh-CN" sz="2400" dirty="0">
                <a:solidFill>
                  <a:schemeClr val="accent2">
                    <a:lumMod val="50000"/>
                  </a:schemeClr>
                </a:solidFill>
                <a:latin typeface="-apple-system"/>
              </a:rPr>
              <a:t>In order to use OpenMP function, Mac users need to install </a:t>
            </a:r>
            <a:r>
              <a:rPr lang="en-US" altLang="zh-CN" sz="2400" dirty="0" err="1">
                <a:solidFill>
                  <a:schemeClr val="accent2">
                    <a:lumMod val="50000"/>
                  </a:schemeClr>
                </a:solidFill>
                <a:latin typeface="-apple-system"/>
              </a:rPr>
              <a:t>libomp</a:t>
            </a:r>
            <a:r>
              <a:rPr lang="en-US" altLang="zh-CN" sz="2400" dirty="0">
                <a:solidFill>
                  <a:schemeClr val="accent2">
                    <a:lumMod val="50000"/>
                  </a:schemeClr>
                </a:solidFill>
                <a:latin typeface="-apple-system"/>
              </a:rPr>
              <a:t> in their laptop.</a:t>
            </a:r>
          </a:p>
        </p:txBody>
      </p:sp>
    </p:spTree>
    <p:extLst>
      <p:ext uri="{BB962C8B-B14F-4D97-AF65-F5344CB8AC3E}">
        <p14:creationId xmlns:p14="http://schemas.microsoft.com/office/powerpoint/2010/main" val="277729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a:latin typeface="+mj-lt"/>
              </a:rPr>
              <a:t>Issues </a:t>
            </a:r>
            <a:r>
              <a:rPr lang="zh-CN" altLang="en-US" sz="3200" b="1" dirty="0">
                <a:latin typeface="+mj-lt"/>
              </a:rPr>
              <a:t> </a:t>
            </a:r>
            <a:r>
              <a:rPr lang="en-US" altLang="zh-CN" sz="3200" b="1" dirty="0">
                <a:latin typeface="+mj-lt"/>
              </a:rPr>
              <a:t>when</a:t>
            </a:r>
            <a:r>
              <a:rPr lang="zh-CN" altLang="en-US" sz="3200" b="1" dirty="0">
                <a:latin typeface="+mj-lt"/>
              </a:rPr>
              <a:t> </a:t>
            </a:r>
            <a:r>
              <a:rPr lang="en-US" altLang="zh-CN" sz="3200" b="1" dirty="0">
                <a:latin typeface="+mj-lt"/>
              </a:rPr>
              <a:t>installed</a:t>
            </a:r>
            <a:r>
              <a:rPr lang="zh-CN" altLang="en-US" sz="3200" b="1" dirty="0">
                <a:latin typeface="+mj-lt"/>
              </a:rPr>
              <a:t> </a:t>
            </a:r>
            <a:r>
              <a:rPr lang="en-US" altLang="zh-CN" sz="3200" b="1" dirty="0">
                <a:latin typeface="+mj-lt"/>
              </a:rPr>
              <a:t>on</a:t>
            </a:r>
            <a:r>
              <a:rPr lang="zh-CN" altLang="en-US" sz="3200" b="1" dirty="0">
                <a:latin typeface="+mj-lt"/>
              </a:rPr>
              <a:t> </a:t>
            </a:r>
            <a:r>
              <a:rPr lang="en-US" altLang="zh-CN" sz="3200" b="1" dirty="0">
                <a:latin typeface="+mj-lt"/>
              </a:rPr>
              <a:t>Mac</a:t>
            </a:r>
            <a:endParaRPr lang="zh-CN" altLang="en-US" sz="3200" dirty="0">
              <a:latin typeface="+mj-lt"/>
            </a:endParaRPr>
          </a:p>
        </p:txBody>
      </p:sp>
      <p:pic>
        <p:nvPicPr>
          <p:cNvPr id="3" name="图片 2" descr="文本, 信件&#10;&#10;描述已自动生成">
            <a:extLst>
              <a:ext uri="{FF2B5EF4-FFF2-40B4-BE49-F238E27FC236}">
                <a16:creationId xmlns:a16="http://schemas.microsoft.com/office/drawing/2014/main" id="{535B013E-78F6-8316-199A-E9D8F1C33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847" y="1986846"/>
            <a:ext cx="11108924" cy="4003216"/>
          </a:xfrm>
          <a:prstGeom prst="rect">
            <a:avLst/>
          </a:prstGeom>
        </p:spPr>
      </p:pic>
      <p:sp>
        <p:nvSpPr>
          <p:cNvPr id="7" name="文本框 6">
            <a:extLst>
              <a:ext uri="{FF2B5EF4-FFF2-40B4-BE49-F238E27FC236}">
                <a16:creationId xmlns:a16="http://schemas.microsoft.com/office/drawing/2014/main" id="{4FC19225-F9AB-6F2F-2696-1C83BB4CE5B2}"/>
              </a:ext>
            </a:extLst>
          </p:cNvPr>
          <p:cNvSpPr txBox="1"/>
          <p:nvPr/>
        </p:nvSpPr>
        <p:spPr>
          <a:xfrm>
            <a:off x="678124" y="970565"/>
            <a:ext cx="6094520" cy="833433"/>
          </a:xfrm>
          <a:prstGeom prst="rect">
            <a:avLst/>
          </a:prstGeom>
          <a:noFill/>
        </p:spPr>
        <p:txBody>
          <a:bodyPr wrap="square">
            <a:spAutoFit/>
          </a:bodyPr>
          <a:lstStyle/>
          <a:p>
            <a:pPr algn="l">
              <a:lnSpc>
                <a:spcPct val="200000"/>
              </a:lnSpc>
              <a:spcBef>
                <a:spcPts val="600"/>
              </a:spcBef>
            </a:pPr>
            <a:r>
              <a:rPr lang="en-US" altLang="zh-CN" sz="2800" dirty="0">
                <a:solidFill>
                  <a:srgbClr val="0070C0"/>
                </a:solidFill>
                <a:latin typeface="-apple-system"/>
              </a:rPr>
              <a:t>2</a:t>
            </a:r>
            <a:r>
              <a:rPr lang="en-US" altLang="zh-CN" sz="2800" b="0" i="0" dirty="0">
                <a:solidFill>
                  <a:srgbClr val="0070C0"/>
                </a:solidFill>
                <a:effectLst/>
                <a:latin typeface="-apple-system"/>
              </a:rPr>
              <a:t>. library </a:t>
            </a:r>
            <a:r>
              <a:rPr lang="en-US" altLang="zh-CN" sz="2800" dirty="0">
                <a:solidFill>
                  <a:srgbClr val="0070C0"/>
                </a:solidFill>
                <a:latin typeface="-apple-system"/>
              </a:rPr>
              <a:t>‘</a:t>
            </a:r>
            <a:r>
              <a:rPr lang="en-US" altLang="zh-CN" sz="2800" b="0" i="0" dirty="0" err="1">
                <a:solidFill>
                  <a:srgbClr val="0070C0"/>
                </a:solidFill>
                <a:effectLst/>
                <a:latin typeface="-apple-system"/>
              </a:rPr>
              <a:t>gfortran</a:t>
            </a:r>
            <a:r>
              <a:rPr lang="en-US" altLang="zh-CN" sz="2800" b="0" i="0" dirty="0">
                <a:solidFill>
                  <a:srgbClr val="0070C0"/>
                </a:solidFill>
                <a:effectLst/>
                <a:latin typeface="-apple-system"/>
              </a:rPr>
              <a:t>’</a:t>
            </a:r>
            <a:r>
              <a:rPr lang="zh-CN" altLang="en-US" sz="2800" b="0" i="0" dirty="0">
                <a:solidFill>
                  <a:srgbClr val="0070C0"/>
                </a:solidFill>
                <a:effectLst/>
                <a:latin typeface="-apple-system"/>
              </a:rPr>
              <a:t> </a:t>
            </a:r>
            <a:r>
              <a:rPr lang="en-US" altLang="zh-CN" sz="2800" b="0" i="0" dirty="0">
                <a:solidFill>
                  <a:srgbClr val="0070C0"/>
                </a:solidFill>
                <a:effectLst/>
                <a:latin typeface="-apple-system"/>
              </a:rPr>
              <a:t>not found</a:t>
            </a:r>
          </a:p>
        </p:txBody>
      </p:sp>
    </p:spTree>
    <p:extLst>
      <p:ext uri="{BB962C8B-B14F-4D97-AF65-F5344CB8AC3E}">
        <p14:creationId xmlns:p14="http://schemas.microsoft.com/office/powerpoint/2010/main" val="4275522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a:latin typeface="+mj-lt"/>
              </a:rPr>
              <a:t>Issues </a:t>
            </a:r>
            <a:r>
              <a:rPr lang="zh-CN" altLang="en-US" sz="3200" b="1" dirty="0">
                <a:latin typeface="+mj-lt"/>
              </a:rPr>
              <a:t> </a:t>
            </a:r>
            <a:r>
              <a:rPr lang="en-US" altLang="zh-CN" sz="3200" b="1" dirty="0">
                <a:latin typeface="+mj-lt"/>
              </a:rPr>
              <a:t>when</a:t>
            </a:r>
            <a:r>
              <a:rPr lang="zh-CN" altLang="en-US" sz="3200" b="1" dirty="0">
                <a:latin typeface="+mj-lt"/>
              </a:rPr>
              <a:t> </a:t>
            </a:r>
            <a:r>
              <a:rPr lang="en-US" altLang="zh-CN" sz="3200" b="1" dirty="0">
                <a:latin typeface="+mj-lt"/>
              </a:rPr>
              <a:t>installed</a:t>
            </a:r>
            <a:r>
              <a:rPr lang="zh-CN" altLang="en-US" sz="3200" b="1" dirty="0">
                <a:latin typeface="+mj-lt"/>
              </a:rPr>
              <a:t> </a:t>
            </a:r>
            <a:r>
              <a:rPr lang="en-US" altLang="zh-CN" sz="3200" b="1" dirty="0">
                <a:latin typeface="+mj-lt"/>
              </a:rPr>
              <a:t>on</a:t>
            </a:r>
            <a:r>
              <a:rPr lang="zh-CN" altLang="en-US" sz="3200" b="1" dirty="0">
                <a:latin typeface="+mj-lt"/>
              </a:rPr>
              <a:t> </a:t>
            </a:r>
            <a:r>
              <a:rPr lang="en-US" altLang="zh-CN" sz="3200" b="1" dirty="0">
                <a:latin typeface="+mj-lt"/>
              </a:rPr>
              <a:t>Mac</a:t>
            </a:r>
            <a:endParaRPr lang="zh-CN" altLang="en-US" sz="3200" dirty="0">
              <a:latin typeface="+mj-lt"/>
            </a:endParaRPr>
          </a:p>
        </p:txBody>
      </p:sp>
      <p:sp>
        <p:nvSpPr>
          <p:cNvPr id="7" name="文本框 6">
            <a:extLst>
              <a:ext uri="{FF2B5EF4-FFF2-40B4-BE49-F238E27FC236}">
                <a16:creationId xmlns:a16="http://schemas.microsoft.com/office/drawing/2014/main" id="{4FC19225-F9AB-6F2F-2696-1C83BB4CE5B2}"/>
              </a:ext>
            </a:extLst>
          </p:cNvPr>
          <p:cNvSpPr txBox="1"/>
          <p:nvPr/>
        </p:nvSpPr>
        <p:spPr>
          <a:xfrm>
            <a:off x="678124" y="970565"/>
            <a:ext cx="6094520" cy="833433"/>
          </a:xfrm>
          <a:prstGeom prst="rect">
            <a:avLst/>
          </a:prstGeom>
          <a:noFill/>
        </p:spPr>
        <p:txBody>
          <a:bodyPr wrap="square">
            <a:spAutoFit/>
          </a:bodyPr>
          <a:lstStyle/>
          <a:p>
            <a:pPr algn="l">
              <a:lnSpc>
                <a:spcPct val="200000"/>
              </a:lnSpc>
              <a:spcBef>
                <a:spcPts val="600"/>
              </a:spcBef>
            </a:pPr>
            <a:r>
              <a:rPr lang="en-US" altLang="zh-CN" sz="2800" dirty="0">
                <a:solidFill>
                  <a:srgbClr val="0070C0"/>
                </a:solidFill>
                <a:latin typeface="-apple-system"/>
              </a:rPr>
              <a:t>2</a:t>
            </a:r>
            <a:r>
              <a:rPr lang="en-US" altLang="zh-CN" sz="2800" b="0" i="0" dirty="0">
                <a:solidFill>
                  <a:srgbClr val="0070C0"/>
                </a:solidFill>
                <a:effectLst/>
                <a:latin typeface="-apple-system"/>
              </a:rPr>
              <a:t>. library </a:t>
            </a:r>
            <a:r>
              <a:rPr lang="en-US" altLang="zh-CN" sz="2800" dirty="0">
                <a:solidFill>
                  <a:srgbClr val="0070C0"/>
                </a:solidFill>
                <a:latin typeface="-apple-system"/>
              </a:rPr>
              <a:t>‘</a:t>
            </a:r>
            <a:r>
              <a:rPr lang="en-US" altLang="zh-CN" sz="2800" b="0" i="0" dirty="0" err="1">
                <a:solidFill>
                  <a:srgbClr val="0070C0"/>
                </a:solidFill>
                <a:effectLst/>
                <a:latin typeface="-apple-system"/>
              </a:rPr>
              <a:t>gfortran</a:t>
            </a:r>
            <a:r>
              <a:rPr lang="en-US" altLang="zh-CN" sz="2800" b="0" i="0" dirty="0">
                <a:solidFill>
                  <a:srgbClr val="0070C0"/>
                </a:solidFill>
                <a:effectLst/>
                <a:latin typeface="-apple-system"/>
              </a:rPr>
              <a:t>’</a:t>
            </a:r>
            <a:r>
              <a:rPr lang="zh-CN" altLang="en-US" sz="2800" b="0" i="0" dirty="0">
                <a:solidFill>
                  <a:srgbClr val="0070C0"/>
                </a:solidFill>
                <a:effectLst/>
                <a:latin typeface="-apple-system"/>
              </a:rPr>
              <a:t> </a:t>
            </a:r>
            <a:r>
              <a:rPr lang="en-US" altLang="zh-CN" sz="2800" b="0" i="0" dirty="0">
                <a:solidFill>
                  <a:srgbClr val="0070C0"/>
                </a:solidFill>
                <a:effectLst/>
                <a:latin typeface="-apple-system"/>
              </a:rPr>
              <a:t>not found</a:t>
            </a:r>
          </a:p>
        </p:txBody>
      </p:sp>
      <p:sp>
        <p:nvSpPr>
          <p:cNvPr id="2" name="文本框 1">
            <a:extLst>
              <a:ext uri="{FF2B5EF4-FFF2-40B4-BE49-F238E27FC236}">
                <a16:creationId xmlns:a16="http://schemas.microsoft.com/office/drawing/2014/main" id="{6039E158-6B43-C17D-801E-0317E560282A}"/>
              </a:ext>
            </a:extLst>
          </p:cNvPr>
          <p:cNvSpPr txBox="1"/>
          <p:nvPr/>
        </p:nvSpPr>
        <p:spPr>
          <a:xfrm>
            <a:off x="973123" y="2494635"/>
            <a:ext cx="10836479" cy="3508653"/>
          </a:xfrm>
          <a:prstGeom prst="rect">
            <a:avLst/>
          </a:prstGeom>
          <a:solidFill>
            <a:schemeClr val="bg2"/>
          </a:solidFill>
        </p:spPr>
        <p:txBody>
          <a:bodyPr wrap="square">
            <a:spAutoFit/>
          </a:bodyPr>
          <a:lstStyle/>
          <a:p>
            <a:pPr algn="l">
              <a:spcBef>
                <a:spcPts val="600"/>
              </a:spcBef>
            </a:pPr>
            <a:r>
              <a:rPr lang="en-US" altLang="zh-CN" sz="2400" b="0" i="1" dirty="0">
                <a:solidFill>
                  <a:srgbClr val="C00000"/>
                </a:solidFill>
                <a:effectLst/>
                <a:latin typeface="-apple-system"/>
              </a:rPr>
              <a:t># if do not have brew, install it first</a:t>
            </a:r>
          </a:p>
          <a:p>
            <a:pPr algn="l">
              <a:spcBef>
                <a:spcPts val="600"/>
              </a:spcBef>
            </a:pPr>
            <a:r>
              <a:rPr lang="en-US" altLang="zh-CN" sz="2400" b="0" i="0" dirty="0">
                <a:solidFill>
                  <a:srgbClr val="1F2328"/>
                </a:solidFill>
                <a:effectLst/>
                <a:latin typeface="-apple-system"/>
              </a:rPr>
              <a:t>/bin/bash -c "$(curl -</a:t>
            </a:r>
            <a:r>
              <a:rPr lang="en-US" altLang="zh-CN" sz="2400" b="0" i="0" dirty="0" err="1">
                <a:solidFill>
                  <a:srgbClr val="1F2328"/>
                </a:solidFill>
                <a:effectLst/>
                <a:latin typeface="-apple-system"/>
              </a:rPr>
              <a:t>fsSL</a:t>
            </a:r>
            <a:r>
              <a:rPr lang="en-US" altLang="zh-CN" sz="2400" b="0" i="0" dirty="0">
                <a:solidFill>
                  <a:srgbClr val="1F2328"/>
                </a:solidFill>
                <a:effectLst/>
                <a:latin typeface="-apple-system"/>
              </a:rPr>
              <a:t> </a:t>
            </a:r>
            <a:r>
              <a:rPr lang="en-US" altLang="zh-CN" sz="2400" b="0" i="0" dirty="0">
                <a:solidFill>
                  <a:srgbClr val="1F2328"/>
                </a:solidFill>
                <a:effectLst/>
                <a:latin typeface="-apple-system"/>
                <a:hlinkClick r:id="rId3"/>
              </a:rPr>
              <a:t>https://raw.githubusercontent.com/Homebrew/install/HEAD/install.sh</a:t>
            </a:r>
            <a:r>
              <a:rPr lang="en-US" altLang="zh-CN" sz="2400" b="0" i="0" dirty="0">
                <a:solidFill>
                  <a:srgbClr val="1F2328"/>
                </a:solidFill>
                <a:effectLst/>
                <a:latin typeface="-apple-system"/>
              </a:rPr>
              <a:t>)“</a:t>
            </a:r>
          </a:p>
          <a:p>
            <a:pPr algn="l">
              <a:spcBef>
                <a:spcPts val="600"/>
              </a:spcBef>
            </a:pPr>
            <a:r>
              <a:rPr lang="en-US" altLang="zh-CN" sz="2400" b="0" i="0" dirty="0">
                <a:solidFill>
                  <a:srgbClr val="1F2328"/>
                </a:solidFill>
                <a:effectLst/>
                <a:latin typeface="-apple-system"/>
              </a:rPr>
              <a:t>echo 'eval "$(/opt/homebrew/bin/brew </a:t>
            </a:r>
            <a:r>
              <a:rPr lang="en-US" altLang="zh-CN" sz="2400" b="0" i="0" dirty="0" err="1">
                <a:solidFill>
                  <a:srgbClr val="1F2328"/>
                </a:solidFill>
                <a:effectLst/>
                <a:latin typeface="-apple-system"/>
              </a:rPr>
              <a:t>shellenv</a:t>
            </a:r>
            <a:r>
              <a:rPr lang="en-US" altLang="zh-CN" sz="2400" b="0" i="0" dirty="0">
                <a:solidFill>
                  <a:srgbClr val="1F2328"/>
                </a:solidFill>
                <a:effectLst/>
                <a:latin typeface="-apple-system"/>
              </a:rPr>
              <a:t>)"' &gt;&gt; ~/.</a:t>
            </a:r>
            <a:r>
              <a:rPr lang="en-US" altLang="zh-CN" sz="2400" b="0" i="0" dirty="0" err="1">
                <a:solidFill>
                  <a:srgbClr val="1F2328"/>
                </a:solidFill>
                <a:effectLst/>
                <a:latin typeface="-apple-system"/>
              </a:rPr>
              <a:t>zprofile</a:t>
            </a:r>
            <a:endParaRPr lang="en-US" altLang="zh-CN" sz="2400" b="0" i="0" dirty="0">
              <a:solidFill>
                <a:srgbClr val="1F2328"/>
              </a:solidFill>
              <a:effectLst/>
              <a:latin typeface="-apple-system"/>
            </a:endParaRPr>
          </a:p>
          <a:p>
            <a:pPr algn="l">
              <a:spcBef>
                <a:spcPts val="600"/>
              </a:spcBef>
            </a:pPr>
            <a:r>
              <a:rPr lang="en-US" altLang="zh-CN" sz="2400" b="0" i="0" dirty="0">
                <a:solidFill>
                  <a:srgbClr val="1F2328"/>
                </a:solidFill>
                <a:effectLst/>
                <a:latin typeface="-apple-system"/>
              </a:rPr>
              <a:t>eval "$(/opt/homebrew/bin/brew </a:t>
            </a:r>
            <a:r>
              <a:rPr lang="en-US" altLang="zh-CN" sz="2400" b="0" i="0" dirty="0" err="1">
                <a:solidFill>
                  <a:srgbClr val="1F2328"/>
                </a:solidFill>
                <a:effectLst/>
                <a:latin typeface="-apple-system"/>
              </a:rPr>
              <a:t>shellenv</a:t>
            </a:r>
            <a:r>
              <a:rPr lang="en-US" altLang="zh-CN" sz="2400" b="0" i="0" dirty="0">
                <a:solidFill>
                  <a:srgbClr val="1F2328"/>
                </a:solidFill>
                <a:effectLst/>
                <a:latin typeface="-apple-system"/>
              </a:rPr>
              <a:t>)“</a:t>
            </a:r>
          </a:p>
          <a:p>
            <a:pPr algn="l">
              <a:spcBef>
                <a:spcPts val="600"/>
              </a:spcBef>
            </a:pPr>
            <a:r>
              <a:rPr lang="en-US" altLang="zh-CN" sz="2400" b="0" i="0" dirty="0">
                <a:solidFill>
                  <a:srgbClr val="1F2328"/>
                </a:solidFill>
                <a:effectLst/>
                <a:latin typeface="-apple-system"/>
              </a:rPr>
              <a:t>brew --version</a:t>
            </a:r>
          </a:p>
          <a:p>
            <a:pPr algn="l">
              <a:spcBef>
                <a:spcPts val="600"/>
              </a:spcBef>
            </a:pPr>
            <a:r>
              <a:rPr lang="en-US" altLang="zh-CN" sz="2400" b="0" i="1" dirty="0">
                <a:solidFill>
                  <a:srgbClr val="C00000"/>
                </a:solidFill>
                <a:effectLst/>
                <a:latin typeface="-apple-system"/>
              </a:rPr>
              <a:t># install </a:t>
            </a:r>
            <a:r>
              <a:rPr lang="en-US" altLang="zh-CN" sz="2400" b="0" i="1" dirty="0" err="1">
                <a:solidFill>
                  <a:srgbClr val="C00000"/>
                </a:solidFill>
                <a:effectLst/>
                <a:latin typeface="-apple-system"/>
              </a:rPr>
              <a:t>gfortran</a:t>
            </a:r>
            <a:r>
              <a:rPr lang="en-US" altLang="zh-CN" sz="2400" b="0" i="1" dirty="0">
                <a:solidFill>
                  <a:srgbClr val="C00000"/>
                </a:solidFill>
                <a:effectLst/>
                <a:latin typeface="-apple-system"/>
              </a:rPr>
              <a:t> using brew</a:t>
            </a:r>
          </a:p>
          <a:p>
            <a:pPr algn="l">
              <a:spcBef>
                <a:spcPts val="600"/>
              </a:spcBef>
            </a:pPr>
            <a:r>
              <a:rPr lang="en-US" altLang="zh-CN" sz="2400" b="0" i="0" dirty="0">
                <a:solidFill>
                  <a:srgbClr val="1F2328"/>
                </a:solidFill>
                <a:effectLst/>
                <a:latin typeface="-apple-system"/>
              </a:rPr>
              <a:t>brew install </a:t>
            </a:r>
            <a:r>
              <a:rPr lang="en-US" altLang="zh-CN" sz="2400" b="0" i="0" dirty="0" err="1">
                <a:solidFill>
                  <a:srgbClr val="1F2328"/>
                </a:solidFill>
                <a:effectLst/>
                <a:latin typeface="-apple-system"/>
              </a:rPr>
              <a:t>gcc</a:t>
            </a:r>
            <a:endParaRPr lang="en-US" altLang="zh-CN" sz="2400" b="0" i="0" dirty="0">
              <a:solidFill>
                <a:srgbClr val="1F2328"/>
              </a:solidFill>
              <a:effectLst/>
              <a:latin typeface="-apple-system"/>
            </a:endParaRPr>
          </a:p>
        </p:txBody>
      </p:sp>
      <p:sp>
        <p:nvSpPr>
          <p:cNvPr id="5" name="文本框 4">
            <a:extLst>
              <a:ext uri="{FF2B5EF4-FFF2-40B4-BE49-F238E27FC236}">
                <a16:creationId xmlns:a16="http://schemas.microsoft.com/office/drawing/2014/main" id="{211D9F4C-326E-3C9D-4037-5820D34E58CE}"/>
              </a:ext>
            </a:extLst>
          </p:cNvPr>
          <p:cNvSpPr txBox="1"/>
          <p:nvPr/>
        </p:nvSpPr>
        <p:spPr>
          <a:xfrm>
            <a:off x="951397" y="1661202"/>
            <a:ext cx="6094602" cy="727571"/>
          </a:xfrm>
          <a:prstGeom prst="rect">
            <a:avLst/>
          </a:prstGeom>
          <a:noFill/>
        </p:spPr>
        <p:txBody>
          <a:bodyPr wrap="square">
            <a:spAutoFit/>
          </a:bodyPr>
          <a:lstStyle/>
          <a:p>
            <a:pPr algn="l">
              <a:lnSpc>
                <a:spcPct val="200000"/>
              </a:lnSpc>
              <a:spcBef>
                <a:spcPts val="600"/>
              </a:spcBef>
            </a:pPr>
            <a:r>
              <a:rPr lang="en-US" altLang="zh-CN" sz="2400" dirty="0">
                <a:solidFill>
                  <a:srgbClr val="1F2328"/>
                </a:solidFill>
                <a:latin typeface="-apple-system"/>
              </a:rPr>
              <a:t>Run below code in your terminal:</a:t>
            </a:r>
          </a:p>
        </p:txBody>
      </p:sp>
    </p:spTree>
    <p:extLst>
      <p:ext uri="{BB962C8B-B14F-4D97-AF65-F5344CB8AC3E}">
        <p14:creationId xmlns:p14="http://schemas.microsoft.com/office/powerpoint/2010/main" val="178375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a:latin typeface="+mj-lt"/>
              </a:rPr>
              <a:t>Issues </a:t>
            </a:r>
            <a:r>
              <a:rPr lang="zh-CN" altLang="en-US" sz="3200" b="1" dirty="0">
                <a:latin typeface="+mj-lt"/>
              </a:rPr>
              <a:t> </a:t>
            </a:r>
            <a:r>
              <a:rPr lang="en-US" altLang="zh-CN" sz="3200" b="1" dirty="0">
                <a:latin typeface="+mj-lt"/>
              </a:rPr>
              <a:t>when</a:t>
            </a:r>
            <a:r>
              <a:rPr lang="zh-CN" altLang="en-US" sz="3200" b="1" dirty="0">
                <a:latin typeface="+mj-lt"/>
              </a:rPr>
              <a:t> </a:t>
            </a:r>
            <a:r>
              <a:rPr lang="en-US" altLang="zh-CN" sz="3200" b="1" dirty="0">
                <a:latin typeface="+mj-lt"/>
              </a:rPr>
              <a:t>installed</a:t>
            </a:r>
            <a:r>
              <a:rPr lang="zh-CN" altLang="en-US" sz="3200" b="1" dirty="0">
                <a:latin typeface="+mj-lt"/>
              </a:rPr>
              <a:t> </a:t>
            </a:r>
            <a:r>
              <a:rPr lang="en-US" altLang="zh-CN" sz="3200" b="1" dirty="0">
                <a:latin typeface="+mj-lt"/>
              </a:rPr>
              <a:t>on</a:t>
            </a:r>
            <a:r>
              <a:rPr lang="zh-CN" altLang="en-US" sz="3200" b="1" dirty="0">
                <a:latin typeface="+mj-lt"/>
              </a:rPr>
              <a:t> </a:t>
            </a:r>
            <a:r>
              <a:rPr lang="en-US" altLang="zh-CN" sz="3200" b="1" dirty="0">
                <a:latin typeface="+mj-lt"/>
              </a:rPr>
              <a:t>Mac</a:t>
            </a:r>
            <a:endParaRPr lang="zh-CN" altLang="en-US" sz="3200" dirty="0">
              <a:latin typeface="+mj-lt"/>
            </a:endParaRPr>
          </a:p>
        </p:txBody>
      </p:sp>
      <p:sp>
        <p:nvSpPr>
          <p:cNvPr id="7" name="文本框 6">
            <a:extLst>
              <a:ext uri="{FF2B5EF4-FFF2-40B4-BE49-F238E27FC236}">
                <a16:creationId xmlns:a16="http://schemas.microsoft.com/office/drawing/2014/main" id="{4FC19225-F9AB-6F2F-2696-1C83BB4CE5B2}"/>
              </a:ext>
            </a:extLst>
          </p:cNvPr>
          <p:cNvSpPr txBox="1"/>
          <p:nvPr/>
        </p:nvSpPr>
        <p:spPr>
          <a:xfrm>
            <a:off x="678124" y="970565"/>
            <a:ext cx="6094520" cy="833433"/>
          </a:xfrm>
          <a:prstGeom prst="rect">
            <a:avLst/>
          </a:prstGeom>
          <a:noFill/>
        </p:spPr>
        <p:txBody>
          <a:bodyPr wrap="square">
            <a:spAutoFit/>
          </a:bodyPr>
          <a:lstStyle/>
          <a:p>
            <a:pPr algn="l">
              <a:lnSpc>
                <a:spcPct val="200000"/>
              </a:lnSpc>
              <a:spcBef>
                <a:spcPts val="600"/>
              </a:spcBef>
            </a:pPr>
            <a:r>
              <a:rPr lang="en-US" altLang="zh-CN" sz="2800" dirty="0">
                <a:solidFill>
                  <a:srgbClr val="0070C0"/>
                </a:solidFill>
                <a:latin typeface="-apple-system"/>
              </a:rPr>
              <a:t>2</a:t>
            </a:r>
            <a:r>
              <a:rPr lang="en-US" altLang="zh-CN" sz="2800" b="0" i="0" dirty="0">
                <a:solidFill>
                  <a:srgbClr val="0070C0"/>
                </a:solidFill>
                <a:effectLst/>
                <a:latin typeface="-apple-system"/>
              </a:rPr>
              <a:t>. library </a:t>
            </a:r>
            <a:r>
              <a:rPr lang="en-US" altLang="zh-CN" sz="2800" dirty="0">
                <a:solidFill>
                  <a:srgbClr val="0070C0"/>
                </a:solidFill>
                <a:latin typeface="-apple-system"/>
              </a:rPr>
              <a:t>‘</a:t>
            </a:r>
            <a:r>
              <a:rPr lang="en-US" altLang="zh-CN" sz="2800" b="0" i="0" dirty="0" err="1">
                <a:solidFill>
                  <a:srgbClr val="0070C0"/>
                </a:solidFill>
                <a:effectLst/>
                <a:latin typeface="-apple-system"/>
              </a:rPr>
              <a:t>gfortran</a:t>
            </a:r>
            <a:r>
              <a:rPr lang="en-US" altLang="zh-CN" sz="2800" b="0" i="0" dirty="0">
                <a:solidFill>
                  <a:srgbClr val="0070C0"/>
                </a:solidFill>
                <a:effectLst/>
                <a:latin typeface="-apple-system"/>
              </a:rPr>
              <a:t>’</a:t>
            </a:r>
            <a:r>
              <a:rPr lang="zh-CN" altLang="en-US" sz="2800" b="0" i="0" dirty="0">
                <a:solidFill>
                  <a:srgbClr val="0070C0"/>
                </a:solidFill>
                <a:effectLst/>
                <a:latin typeface="-apple-system"/>
              </a:rPr>
              <a:t> </a:t>
            </a:r>
            <a:r>
              <a:rPr lang="en-US" altLang="zh-CN" sz="2800" b="0" i="0" dirty="0">
                <a:solidFill>
                  <a:srgbClr val="0070C0"/>
                </a:solidFill>
                <a:effectLst/>
                <a:latin typeface="-apple-system"/>
              </a:rPr>
              <a:t>not found</a:t>
            </a:r>
          </a:p>
        </p:txBody>
      </p:sp>
      <p:sp>
        <p:nvSpPr>
          <p:cNvPr id="2" name="文本框 1">
            <a:extLst>
              <a:ext uri="{FF2B5EF4-FFF2-40B4-BE49-F238E27FC236}">
                <a16:creationId xmlns:a16="http://schemas.microsoft.com/office/drawing/2014/main" id="{6039E158-6B43-C17D-801E-0317E560282A}"/>
              </a:ext>
            </a:extLst>
          </p:cNvPr>
          <p:cNvSpPr txBox="1"/>
          <p:nvPr/>
        </p:nvSpPr>
        <p:spPr>
          <a:xfrm>
            <a:off x="973123" y="2494635"/>
            <a:ext cx="10836479" cy="2693045"/>
          </a:xfrm>
          <a:prstGeom prst="rect">
            <a:avLst/>
          </a:prstGeom>
          <a:solidFill>
            <a:schemeClr val="bg2"/>
          </a:solidFill>
        </p:spPr>
        <p:txBody>
          <a:bodyPr wrap="square">
            <a:spAutoFit/>
          </a:bodyPr>
          <a:lstStyle/>
          <a:p>
            <a:pPr algn="l">
              <a:spcBef>
                <a:spcPts val="600"/>
              </a:spcBef>
            </a:pPr>
            <a:r>
              <a:rPr lang="en-US" altLang="zh-CN" sz="2400" i="1" dirty="0">
                <a:solidFill>
                  <a:srgbClr val="C00000"/>
                </a:solidFill>
                <a:latin typeface="-apple-system"/>
              </a:rPr>
              <a:t># edit   ~/.</a:t>
            </a:r>
            <a:r>
              <a:rPr lang="en-US" altLang="zh-CN" sz="2400" i="1" dirty="0" err="1">
                <a:solidFill>
                  <a:srgbClr val="C00000"/>
                </a:solidFill>
                <a:latin typeface="-apple-system"/>
              </a:rPr>
              <a:t>R.Makevars</a:t>
            </a:r>
            <a:r>
              <a:rPr lang="en-US" altLang="zh-CN" sz="2400" i="1" dirty="0">
                <a:solidFill>
                  <a:srgbClr val="C00000"/>
                </a:solidFill>
                <a:latin typeface="-apple-system"/>
              </a:rPr>
              <a:t>  . Add follow information to it. If not exist, create one.</a:t>
            </a:r>
          </a:p>
          <a:p>
            <a:pPr algn="l">
              <a:spcBef>
                <a:spcPts val="600"/>
              </a:spcBef>
            </a:pPr>
            <a:r>
              <a:rPr lang="en-US" altLang="zh-CN" sz="2400" b="0" i="0" dirty="0">
                <a:solidFill>
                  <a:srgbClr val="1F2328"/>
                </a:solidFill>
                <a:effectLst/>
                <a:latin typeface="-apple-system"/>
              </a:rPr>
              <a:t>FC = /opt/homebrew/bin/</a:t>
            </a:r>
            <a:r>
              <a:rPr lang="en-US" altLang="zh-CN" sz="2400" b="0" i="0" dirty="0" err="1">
                <a:solidFill>
                  <a:srgbClr val="1F2328"/>
                </a:solidFill>
                <a:effectLst/>
                <a:latin typeface="-apple-system"/>
              </a:rPr>
              <a:t>gfortran</a:t>
            </a:r>
            <a:r>
              <a:rPr lang="en-US" altLang="zh-CN" sz="2400" b="0" i="0" dirty="0">
                <a:solidFill>
                  <a:srgbClr val="1F2328"/>
                </a:solidFill>
                <a:effectLst/>
                <a:latin typeface="-apple-system"/>
              </a:rPr>
              <a:t>   </a:t>
            </a:r>
            <a:r>
              <a:rPr lang="en-US" altLang="zh-CN" sz="2400" b="0" i="1" dirty="0">
                <a:solidFill>
                  <a:srgbClr val="C00000"/>
                </a:solidFill>
                <a:effectLst/>
                <a:latin typeface="-apple-system"/>
              </a:rPr>
              <a:t># the path of your installed </a:t>
            </a:r>
            <a:r>
              <a:rPr lang="en-US" altLang="zh-CN" sz="2400" b="0" i="1" dirty="0" err="1">
                <a:solidFill>
                  <a:srgbClr val="C00000"/>
                </a:solidFill>
                <a:effectLst/>
                <a:latin typeface="-apple-system"/>
              </a:rPr>
              <a:t>gfortran</a:t>
            </a:r>
            <a:endParaRPr lang="en-US" altLang="zh-CN" sz="2400" b="0" i="1" dirty="0">
              <a:solidFill>
                <a:srgbClr val="C00000"/>
              </a:solidFill>
              <a:effectLst/>
              <a:latin typeface="-apple-system"/>
            </a:endParaRPr>
          </a:p>
          <a:p>
            <a:pPr algn="l">
              <a:spcBef>
                <a:spcPts val="600"/>
              </a:spcBef>
            </a:pPr>
            <a:r>
              <a:rPr lang="en-US" altLang="zh-CN" sz="2400" b="0" i="0" dirty="0">
                <a:solidFill>
                  <a:srgbClr val="1F2328"/>
                </a:solidFill>
                <a:effectLst/>
                <a:latin typeface="-apple-system"/>
              </a:rPr>
              <a:t>F77 = /opt/homebrew/bin/</a:t>
            </a:r>
            <a:r>
              <a:rPr lang="en-US" altLang="zh-CN" sz="2400" b="0" i="0" dirty="0" err="1">
                <a:solidFill>
                  <a:srgbClr val="1F2328"/>
                </a:solidFill>
                <a:effectLst/>
                <a:latin typeface="-apple-system"/>
              </a:rPr>
              <a:t>gfortran</a:t>
            </a:r>
            <a:endParaRPr lang="en-US" altLang="zh-CN" sz="2400" b="0" i="0" dirty="0">
              <a:solidFill>
                <a:srgbClr val="1F2328"/>
              </a:solidFill>
              <a:effectLst/>
              <a:latin typeface="-apple-system"/>
            </a:endParaRPr>
          </a:p>
          <a:p>
            <a:pPr algn="l">
              <a:spcBef>
                <a:spcPts val="600"/>
              </a:spcBef>
            </a:pPr>
            <a:r>
              <a:rPr lang="en-US" altLang="zh-CN" sz="2400" b="0" i="0" dirty="0">
                <a:solidFill>
                  <a:srgbClr val="1F2328"/>
                </a:solidFill>
                <a:effectLst/>
                <a:latin typeface="-apple-system"/>
              </a:rPr>
              <a:t>FLIBS = -L/opt/homebrew/lib/</a:t>
            </a:r>
            <a:r>
              <a:rPr lang="en-US" altLang="zh-CN" sz="2400" b="0" i="0" dirty="0" err="1">
                <a:solidFill>
                  <a:srgbClr val="1F2328"/>
                </a:solidFill>
                <a:effectLst/>
                <a:latin typeface="-apple-system"/>
              </a:rPr>
              <a:t>gcc</a:t>
            </a:r>
            <a:r>
              <a:rPr lang="en-US" altLang="zh-CN" sz="2400" b="0" i="0" dirty="0">
                <a:solidFill>
                  <a:srgbClr val="1F2328"/>
                </a:solidFill>
                <a:effectLst/>
                <a:latin typeface="-apple-system"/>
              </a:rPr>
              <a:t>/X.Y -</a:t>
            </a:r>
            <a:r>
              <a:rPr lang="en-US" altLang="zh-CN" sz="2400" b="0" i="0" dirty="0" err="1">
                <a:solidFill>
                  <a:srgbClr val="1F2328"/>
                </a:solidFill>
                <a:effectLst/>
                <a:latin typeface="-apple-system"/>
              </a:rPr>
              <a:t>lgfortran</a:t>
            </a:r>
            <a:r>
              <a:rPr lang="en-US" altLang="zh-CN" sz="2400" b="0" i="0" dirty="0">
                <a:solidFill>
                  <a:srgbClr val="1F2328"/>
                </a:solidFill>
                <a:effectLst/>
                <a:latin typeface="-apple-system"/>
              </a:rPr>
              <a:t> -</a:t>
            </a:r>
            <a:r>
              <a:rPr lang="en-US" altLang="zh-CN" sz="2400" b="0" i="0" dirty="0" err="1">
                <a:solidFill>
                  <a:srgbClr val="1F2328"/>
                </a:solidFill>
                <a:effectLst/>
                <a:latin typeface="-apple-system"/>
              </a:rPr>
              <a:t>lquadmath</a:t>
            </a:r>
            <a:r>
              <a:rPr lang="en-US" altLang="zh-CN" sz="2400" b="0" i="0" dirty="0">
                <a:solidFill>
                  <a:srgbClr val="1F2328"/>
                </a:solidFill>
                <a:effectLst/>
                <a:latin typeface="-apple-system"/>
              </a:rPr>
              <a:t> –</a:t>
            </a:r>
            <a:r>
              <a:rPr lang="en-US" altLang="zh-CN" sz="2400" b="0" i="0" dirty="0" err="1">
                <a:solidFill>
                  <a:srgbClr val="1F2328"/>
                </a:solidFill>
                <a:effectLst/>
                <a:latin typeface="-apple-system"/>
              </a:rPr>
              <a:t>lm</a:t>
            </a:r>
            <a:endParaRPr lang="en-US" altLang="zh-CN" sz="2400" b="0" i="0" dirty="0">
              <a:solidFill>
                <a:srgbClr val="1F2328"/>
              </a:solidFill>
              <a:effectLst/>
              <a:latin typeface="-apple-system"/>
            </a:endParaRPr>
          </a:p>
          <a:p>
            <a:pPr algn="l">
              <a:spcBef>
                <a:spcPts val="600"/>
              </a:spcBef>
            </a:pPr>
            <a:r>
              <a:rPr lang="en-US" altLang="zh-CN" sz="2400" i="1" dirty="0">
                <a:solidFill>
                  <a:srgbClr val="C00000"/>
                </a:solidFill>
                <a:latin typeface="-apple-system"/>
              </a:rPr>
              <a:t># X.Y is the version of your </a:t>
            </a:r>
            <a:r>
              <a:rPr lang="en-US" altLang="zh-CN" sz="2400" i="1" dirty="0" err="1">
                <a:solidFill>
                  <a:srgbClr val="C00000"/>
                </a:solidFill>
                <a:latin typeface="-apple-system"/>
              </a:rPr>
              <a:t>gcc</a:t>
            </a:r>
            <a:r>
              <a:rPr lang="en-US" altLang="zh-CN" sz="2400" i="1" dirty="0">
                <a:solidFill>
                  <a:srgbClr val="C00000"/>
                </a:solidFill>
                <a:latin typeface="-apple-system"/>
              </a:rPr>
              <a:t>, can also be X. (ex: 12.* or 12)</a:t>
            </a:r>
            <a:endParaRPr lang="en-US" altLang="zh-CN" sz="2400" b="0" i="1" dirty="0">
              <a:solidFill>
                <a:srgbClr val="C00000"/>
              </a:solidFill>
              <a:effectLst/>
              <a:latin typeface="-apple-system"/>
            </a:endParaRPr>
          </a:p>
          <a:p>
            <a:pPr algn="l">
              <a:spcBef>
                <a:spcPts val="600"/>
              </a:spcBef>
            </a:pPr>
            <a:endParaRPr lang="en-US" altLang="zh-CN" sz="2400" b="0" i="0" dirty="0">
              <a:solidFill>
                <a:srgbClr val="1F2328"/>
              </a:solidFill>
              <a:effectLst/>
              <a:latin typeface="-apple-system"/>
            </a:endParaRPr>
          </a:p>
        </p:txBody>
      </p:sp>
      <p:sp>
        <p:nvSpPr>
          <p:cNvPr id="5" name="文本框 4">
            <a:extLst>
              <a:ext uri="{FF2B5EF4-FFF2-40B4-BE49-F238E27FC236}">
                <a16:creationId xmlns:a16="http://schemas.microsoft.com/office/drawing/2014/main" id="{211D9F4C-326E-3C9D-4037-5820D34E58CE}"/>
              </a:ext>
            </a:extLst>
          </p:cNvPr>
          <p:cNvSpPr txBox="1"/>
          <p:nvPr/>
        </p:nvSpPr>
        <p:spPr>
          <a:xfrm>
            <a:off x="951397" y="1661202"/>
            <a:ext cx="6094602" cy="727571"/>
          </a:xfrm>
          <a:prstGeom prst="rect">
            <a:avLst/>
          </a:prstGeom>
          <a:noFill/>
        </p:spPr>
        <p:txBody>
          <a:bodyPr wrap="square">
            <a:spAutoFit/>
          </a:bodyPr>
          <a:lstStyle/>
          <a:p>
            <a:pPr algn="l">
              <a:lnSpc>
                <a:spcPct val="200000"/>
              </a:lnSpc>
              <a:spcBef>
                <a:spcPts val="600"/>
              </a:spcBef>
            </a:pPr>
            <a:r>
              <a:rPr lang="en-US" altLang="zh-CN" sz="2400" dirty="0">
                <a:solidFill>
                  <a:srgbClr val="1F2328"/>
                </a:solidFill>
                <a:latin typeface="-apple-system"/>
              </a:rPr>
              <a:t>Run below code in your terminal:</a:t>
            </a:r>
          </a:p>
        </p:txBody>
      </p:sp>
    </p:spTree>
    <p:extLst>
      <p:ext uri="{BB962C8B-B14F-4D97-AF65-F5344CB8AC3E}">
        <p14:creationId xmlns:p14="http://schemas.microsoft.com/office/powerpoint/2010/main" val="2918375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EEB6D-E15C-F749-C5AB-52530BB5FE49}"/>
              </a:ext>
            </a:extLst>
          </p:cNvPr>
          <p:cNvSpPr>
            <a:spLocks noGrp="1"/>
          </p:cNvSpPr>
          <p:nvPr>
            <p:ph type="title"/>
          </p:nvPr>
        </p:nvSpPr>
        <p:spPr>
          <a:xfrm>
            <a:off x="1097280" y="767342"/>
            <a:ext cx="10058400" cy="2730868"/>
          </a:xfrm>
        </p:spPr>
        <p:txBody>
          <a:bodyPr/>
          <a:lstStyle/>
          <a:p>
            <a:pPr algn="ctr"/>
            <a:r>
              <a:rPr lang="en-US" altLang="zh-CN" dirty="0"/>
              <a:t>Functions</a:t>
            </a:r>
            <a:endParaRPr lang="zh-CN" altLang="en-US" dirty="0"/>
          </a:p>
        </p:txBody>
      </p:sp>
      <p:sp>
        <p:nvSpPr>
          <p:cNvPr id="3" name="文本占位符 2">
            <a:extLst>
              <a:ext uri="{FF2B5EF4-FFF2-40B4-BE49-F238E27FC236}">
                <a16:creationId xmlns:a16="http://schemas.microsoft.com/office/drawing/2014/main" id="{4FE24BD7-70BA-D30A-398F-CAF3B2FF83DF}"/>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81341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366EE55D-148F-4546-C088-A8B85B595E5A}"/>
              </a:ext>
            </a:extLst>
          </p:cNvPr>
          <p:cNvSpPr txBox="1"/>
          <p:nvPr/>
        </p:nvSpPr>
        <p:spPr>
          <a:xfrm>
            <a:off x="545284" y="1209931"/>
            <a:ext cx="10788244" cy="4438138"/>
          </a:xfrm>
          <a:prstGeom prst="rect">
            <a:avLst/>
          </a:prstGeom>
          <a:noFill/>
        </p:spPr>
        <p:txBody>
          <a:bodyPr wrap="square">
            <a:spAutoFit/>
          </a:bodyPr>
          <a:lstStyle/>
          <a:p>
            <a:pPr marL="384048" lvl="1" indent="-182880" defTabSz="914400">
              <a:lnSpc>
                <a:spcPct val="90000"/>
              </a:lnSpc>
              <a:spcBef>
                <a:spcPts val="600"/>
              </a:spcBef>
              <a:spcAft>
                <a:spcPts val="400"/>
              </a:spcAft>
              <a:buClr>
                <a:schemeClr val="accent1"/>
              </a:buClr>
              <a:buFont typeface="Calibri" pitchFamily="34" charset="0"/>
              <a:buChar char="◦"/>
            </a:pPr>
            <a:r>
              <a:rPr lang="en-US" altLang="zh-CN" sz="2200" dirty="0">
                <a:solidFill>
                  <a:schemeClr val="tx1">
                    <a:lumMod val="75000"/>
                    <a:lumOff val="25000"/>
                  </a:schemeClr>
                </a:solidFill>
              </a:rPr>
              <a:t>The function designed to assess various breeding schemes for the </a:t>
            </a:r>
            <a:r>
              <a:rPr lang="en-US" altLang="zh-CN" sz="2200" b="1" dirty="0">
                <a:solidFill>
                  <a:srgbClr val="C00000"/>
                </a:solidFill>
              </a:rPr>
              <a:t>nucleus herds</a:t>
            </a:r>
            <a:r>
              <a:rPr lang="en-US" altLang="zh-CN" sz="2200" dirty="0">
                <a:solidFill>
                  <a:schemeClr val="tx1">
                    <a:lumMod val="75000"/>
                    <a:lumOff val="25000"/>
                  </a:schemeClr>
                </a:solidFill>
              </a:rPr>
              <a:t>, you can compare the genetic progress as well as the monetary profit under different key elements in constructing populations such as the productive lifetime of breeding stocks, mating ratio, mating methods, the number of dams, cull rate, the method of breeding value estimation, the number of individuals selected for phenotyping or genotyping, and so on.</a:t>
            </a:r>
          </a:p>
          <a:p>
            <a:pPr marL="384048" lvl="1" indent="-182880" defTabSz="914400">
              <a:lnSpc>
                <a:spcPct val="90000"/>
              </a:lnSpc>
              <a:spcBef>
                <a:spcPts val="600"/>
              </a:spcBef>
              <a:spcAft>
                <a:spcPts val="400"/>
              </a:spcAft>
              <a:buClr>
                <a:schemeClr val="accent1"/>
              </a:buClr>
              <a:buFont typeface="Calibri" pitchFamily="34" charset="0"/>
              <a:buChar char="◦"/>
            </a:pPr>
            <a:r>
              <a:rPr lang="en-US" altLang="zh-CN" sz="2200" dirty="0">
                <a:solidFill>
                  <a:schemeClr val="tx1">
                    <a:lumMod val="75000"/>
                    <a:lumOff val="25000"/>
                  </a:schemeClr>
                </a:solidFill>
              </a:rPr>
              <a:t>It returns five aspects of results, the realized genetic progress, the final population mean of traits, the decline of genetic variance, the inbreeding increment, and the economic profit. </a:t>
            </a:r>
          </a:p>
          <a:p>
            <a:pPr marL="384048" lvl="1" indent="-182880" defTabSz="914400">
              <a:lnSpc>
                <a:spcPct val="90000"/>
              </a:lnSpc>
              <a:spcBef>
                <a:spcPts val="600"/>
              </a:spcBef>
              <a:spcAft>
                <a:spcPts val="400"/>
              </a:spcAft>
              <a:buClr>
                <a:schemeClr val="accent1"/>
              </a:buClr>
              <a:buFont typeface="Calibri" pitchFamily="34" charset="0"/>
              <a:buChar char="◦"/>
            </a:pPr>
            <a:r>
              <a:rPr lang="en-US" altLang="zh-CN" sz="2200" dirty="0">
                <a:solidFill>
                  <a:schemeClr val="tx1">
                    <a:lumMod val="75000"/>
                    <a:lumOff val="25000"/>
                  </a:schemeClr>
                </a:solidFill>
              </a:rPr>
              <a:t>Widely used BV estimation methods including BLUP , GBLUP, and </a:t>
            </a:r>
            <a:r>
              <a:rPr lang="en-US" altLang="zh-CN" sz="2200" dirty="0" err="1">
                <a:solidFill>
                  <a:schemeClr val="tx1">
                    <a:lumMod val="75000"/>
                    <a:lumOff val="25000"/>
                  </a:schemeClr>
                </a:solidFill>
              </a:rPr>
              <a:t>ssGBLUP</a:t>
            </a:r>
            <a:r>
              <a:rPr lang="en-US" altLang="zh-CN" sz="2200" dirty="0">
                <a:solidFill>
                  <a:schemeClr val="tx1">
                    <a:lumMod val="75000"/>
                    <a:lumOff val="25000"/>
                  </a:schemeClr>
                </a:solidFill>
              </a:rPr>
              <a:t> (single-step GBLUP) are supported by this function, which can be executed through calling the DMU software. </a:t>
            </a:r>
          </a:p>
          <a:p>
            <a:pPr marL="384048" lvl="1" indent="-182880" defTabSz="914400">
              <a:lnSpc>
                <a:spcPct val="90000"/>
              </a:lnSpc>
              <a:spcBef>
                <a:spcPts val="600"/>
              </a:spcBef>
              <a:spcAft>
                <a:spcPts val="400"/>
              </a:spcAft>
              <a:buClr>
                <a:schemeClr val="accent1"/>
              </a:buClr>
              <a:buFont typeface="Calibri" pitchFamily="34" charset="0"/>
              <a:buChar char="◦"/>
            </a:pPr>
            <a:r>
              <a:rPr lang="en-US" altLang="zh-CN" sz="2200" dirty="0">
                <a:solidFill>
                  <a:schemeClr val="tx1">
                    <a:lumMod val="75000"/>
                    <a:lumOff val="25000"/>
                  </a:schemeClr>
                </a:solidFill>
              </a:rPr>
              <a:t>Additionally, to improve the flexibility of mating methods, users can invoke external mating programs to generate their own mating plans by specifying the program’s path.</a:t>
            </a:r>
            <a:endParaRPr lang="zh-CN" altLang="en-US" sz="2200" dirty="0">
              <a:solidFill>
                <a:schemeClr val="tx1">
                  <a:lumMod val="75000"/>
                  <a:lumOff val="25000"/>
                </a:schemeClr>
              </a:solidFill>
            </a:endParaRPr>
          </a:p>
        </p:txBody>
      </p:sp>
    </p:spTree>
    <p:extLst>
      <p:ext uri="{BB962C8B-B14F-4D97-AF65-F5344CB8AC3E}">
        <p14:creationId xmlns:p14="http://schemas.microsoft.com/office/powerpoint/2010/main" val="2538916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sp>
        <p:nvSpPr>
          <p:cNvPr id="7" name="椭圆 6">
            <a:extLst>
              <a:ext uri="{FF2B5EF4-FFF2-40B4-BE49-F238E27FC236}">
                <a16:creationId xmlns:a16="http://schemas.microsoft.com/office/drawing/2014/main" id="{AA0B1C5B-A5C0-9060-6EE7-D634DFE41696}"/>
              </a:ext>
            </a:extLst>
          </p:cNvPr>
          <p:cNvSpPr/>
          <p:nvPr/>
        </p:nvSpPr>
        <p:spPr>
          <a:xfrm>
            <a:off x="5257100" y="2600587"/>
            <a:ext cx="2315361" cy="17868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t>Nucleus</a:t>
            </a:r>
          </a:p>
          <a:p>
            <a:pPr algn="ctr"/>
            <a:r>
              <a:rPr lang="en-US" altLang="zh-CN" sz="2400" dirty="0"/>
              <a:t>Breeding program</a:t>
            </a:r>
            <a:endParaRPr lang="zh-CN" altLang="en-US" sz="2400" dirty="0"/>
          </a:p>
        </p:txBody>
      </p:sp>
      <p:sp>
        <p:nvSpPr>
          <p:cNvPr id="8" name="左大括号 7">
            <a:extLst>
              <a:ext uri="{FF2B5EF4-FFF2-40B4-BE49-F238E27FC236}">
                <a16:creationId xmlns:a16="http://schemas.microsoft.com/office/drawing/2014/main" id="{B3A98D7C-8FA6-2EF7-0352-E6582E95516E}"/>
              </a:ext>
            </a:extLst>
          </p:cNvPr>
          <p:cNvSpPr/>
          <p:nvPr/>
        </p:nvSpPr>
        <p:spPr>
          <a:xfrm>
            <a:off x="7824130" y="1537283"/>
            <a:ext cx="749417" cy="378133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9" name="左大括号 8">
            <a:extLst>
              <a:ext uri="{FF2B5EF4-FFF2-40B4-BE49-F238E27FC236}">
                <a16:creationId xmlns:a16="http://schemas.microsoft.com/office/drawing/2014/main" id="{E53E564D-FF1F-A4CD-33CE-E9E7A4612E3B}"/>
              </a:ext>
            </a:extLst>
          </p:cNvPr>
          <p:cNvSpPr/>
          <p:nvPr/>
        </p:nvSpPr>
        <p:spPr>
          <a:xfrm flipH="1">
            <a:off x="4256014" y="1537283"/>
            <a:ext cx="749417" cy="378133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221379BA-55E5-966B-C2D3-A31F222A7A60}"/>
              </a:ext>
            </a:extLst>
          </p:cNvPr>
          <p:cNvSpPr/>
          <p:nvPr/>
        </p:nvSpPr>
        <p:spPr>
          <a:xfrm>
            <a:off x="351286" y="1413905"/>
            <a:ext cx="3963102" cy="684973"/>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b="1" dirty="0"/>
              <a:t>Population structure</a:t>
            </a:r>
          </a:p>
          <a:p>
            <a:pPr algn="ctr"/>
            <a:r>
              <a:rPr lang="en-US" altLang="zh-CN" b="1" dirty="0"/>
              <a:t>(Mating ratio, productive lifetime, </a:t>
            </a:r>
            <a:r>
              <a:rPr lang="en-US" altLang="zh-CN" b="1" dirty="0" err="1"/>
              <a:t>etc</a:t>
            </a:r>
            <a:r>
              <a:rPr lang="en-US" altLang="zh-CN" b="1" dirty="0"/>
              <a:t> )</a:t>
            </a:r>
            <a:endParaRPr lang="zh-CN" altLang="en-US" b="1" dirty="0"/>
          </a:p>
        </p:txBody>
      </p:sp>
      <p:sp>
        <p:nvSpPr>
          <p:cNvPr id="11" name="矩形: 圆角 10">
            <a:extLst>
              <a:ext uri="{FF2B5EF4-FFF2-40B4-BE49-F238E27FC236}">
                <a16:creationId xmlns:a16="http://schemas.microsoft.com/office/drawing/2014/main" id="{CB471E4C-9B31-B7D5-BA4E-5EBA6D416EE2}"/>
              </a:ext>
            </a:extLst>
          </p:cNvPr>
          <p:cNvSpPr/>
          <p:nvPr/>
        </p:nvSpPr>
        <p:spPr>
          <a:xfrm>
            <a:off x="475376" y="2609917"/>
            <a:ext cx="3714924" cy="584775"/>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b="1" dirty="0"/>
              <a:t>Aggregate selection index</a:t>
            </a:r>
            <a:endParaRPr lang="zh-CN" altLang="en-US" b="1" dirty="0"/>
          </a:p>
        </p:txBody>
      </p:sp>
      <p:sp>
        <p:nvSpPr>
          <p:cNvPr id="12" name="矩形: 圆角 11">
            <a:extLst>
              <a:ext uri="{FF2B5EF4-FFF2-40B4-BE49-F238E27FC236}">
                <a16:creationId xmlns:a16="http://schemas.microsoft.com/office/drawing/2014/main" id="{4C453891-314F-F6FD-7C31-4E942F075457}"/>
              </a:ext>
            </a:extLst>
          </p:cNvPr>
          <p:cNvSpPr/>
          <p:nvPr/>
        </p:nvSpPr>
        <p:spPr>
          <a:xfrm>
            <a:off x="475375" y="3761410"/>
            <a:ext cx="3714925" cy="684973"/>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b="1" dirty="0"/>
              <a:t>Breeding value estimation method</a:t>
            </a:r>
          </a:p>
          <a:p>
            <a:pPr algn="ctr"/>
            <a:r>
              <a:rPr lang="en-US" altLang="zh-CN" b="1" dirty="0"/>
              <a:t>(BLUP, GBLUP, ss-GBLUP)</a:t>
            </a:r>
            <a:endParaRPr lang="zh-CN" altLang="en-US" b="1" dirty="0"/>
          </a:p>
        </p:txBody>
      </p:sp>
      <p:sp>
        <p:nvSpPr>
          <p:cNvPr id="13" name="矩形: 圆角 12">
            <a:extLst>
              <a:ext uri="{FF2B5EF4-FFF2-40B4-BE49-F238E27FC236}">
                <a16:creationId xmlns:a16="http://schemas.microsoft.com/office/drawing/2014/main" id="{A4380DE1-7B61-980A-B0D0-0F64BDEC5FBA}"/>
              </a:ext>
            </a:extLst>
          </p:cNvPr>
          <p:cNvSpPr/>
          <p:nvPr/>
        </p:nvSpPr>
        <p:spPr>
          <a:xfrm>
            <a:off x="500542" y="4957422"/>
            <a:ext cx="3714925" cy="584775"/>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b="1" dirty="0"/>
              <a:t>Phenotype/genotype ratio</a:t>
            </a:r>
          </a:p>
        </p:txBody>
      </p:sp>
      <p:sp>
        <p:nvSpPr>
          <p:cNvPr id="16" name="矩形: 圆角 15">
            <a:extLst>
              <a:ext uri="{FF2B5EF4-FFF2-40B4-BE49-F238E27FC236}">
                <a16:creationId xmlns:a16="http://schemas.microsoft.com/office/drawing/2014/main" id="{25CBF799-8FC7-9A87-A977-D9FE68E6B967}"/>
              </a:ext>
            </a:extLst>
          </p:cNvPr>
          <p:cNvSpPr/>
          <p:nvPr/>
        </p:nvSpPr>
        <p:spPr>
          <a:xfrm>
            <a:off x="8639261" y="1240802"/>
            <a:ext cx="2818699" cy="54000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b="1" dirty="0"/>
              <a:t>realized genetic progress</a:t>
            </a:r>
          </a:p>
        </p:txBody>
      </p:sp>
      <p:sp>
        <p:nvSpPr>
          <p:cNvPr id="20" name="矩形: 圆角 19">
            <a:extLst>
              <a:ext uri="{FF2B5EF4-FFF2-40B4-BE49-F238E27FC236}">
                <a16:creationId xmlns:a16="http://schemas.microsoft.com/office/drawing/2014/main" id="{ED673E3E-1CA7-5C24-E073-0699574DF038}"/>
              </a:ext>
            </a:extLst>
          </p:cNvPr>
          <p:cNvSpPr/>
          <p:nvPr/>
        </p:nvSpPr>
        <p:spPr>
          <a:xfrm>
            <a:off x="8639261" y="2145927"/>
            <a:ext cx="2818699" cy="54000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b="1" dirty="0"/>
              <a:t>population mean of traits</a:t>
            </a:r>
          </a:p>
        </p:txBody>
      </p:sp>
      <p:sp>
        <p:nvSpPr>
          <p:cNvPr id="21" name="矩形: 圆角 20">
            <a:extLst>
              <a:ext uri="{FF2B5EF4-FFF2-40B4-BE49-F238E27FC236}">
                <a16:creationId xmlns:a16="http://schemas.microsoft.com/office/drawing/2014/main" id="{EC358CA2-5B77-8EF0-D257-175979CC8C4D}"/>
              </a:ext>
            </a:extLst>
          </p:cNvPr>
          <p:cNvSpPr/>
          <p:nvPr/>
        </p:nvSpPr>
        <p:spPr>
          <a:xfrm>
            <a:off x="8639261" y="3121500"/>
            <a:ext cx="2818699" cy="54000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b="1" dirty="0"/>
              <a:t>decline of genetic variance</a:t>
            </a:r>
          </a:p>
        </p:txBody>
      </p:sp>
      <p:sp>
        <p:nvSpPr>
          <p:cNvPr id="22" name="矩形: 圆角 21">
            <a:extLst>
              <a:ext uri="{FF2B5EF4-FFF2-40B4-BE49-F238E27FC236}">
                <a16:creationId xmlns:a16="http://schemas.microsoft.com/office/drawing/2014/main" id="{0CB1CB30-794C-B785-F8D1-B866AFC31078}"/>
              </a:ext>
            </a:extLst>
          </p:cNvPr>
          <p:cNvSpPr/>
          <p:nvPr/>
        </p:nvSpPr>
        <p:spPr>
          <a:xfrm>
            <a:off x="8639261" y="4026625"/>
            <a:ext cx="2818699" cy="54000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b="1" dirty="0"/>
              <a:t>inbreeding increment,</a:t>
            </a:r>
          </a:p>
        </p:txBody>
      </p:sp>
      <p:sp>
        <p:nvSpPr>
          <p:cNvPr id="23" name="矩形: 圆角 22">
            <a:extLst>
              <a:ext uri="{FF2B5EF4-FFF2-40B4-BE49-F238E27FC236}">
                <a16:creationId xmlns:a16="http://schemas.microsoft.com/office/drawing/2014/main" id="{6CC51508-7EC4-9C36-ADAE-3AC640DA43A2}"/>
              </a:ext>
            </a:extLst>
          </p:cNvPr>
          <p:cNvSpPr/>
          <p:nvPr/>
        </p:nvSpPr>
        <p:spPr>
          <a:xfrm>
            <a:off x="8639262" y="5002198"/>
            <a:ext cx="2818699" cy="540000"/>
          </a:xfrm>
          <a:prstGeom prst="roundRect">
            <a:avLst/>
          </a:prstGeom>
          <a:ln w="38100"/>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b="1" dirty="0"/>
              <a:t>economic profit</a:t>
            </a:r>
          </a:p>
        </p:txBody>
      </p:sp>
      <p:sp>
        <p:nvSpPr>
          <p:cNvPr id="24" name="文本框 23">
            <a:extLst>
              <a:ext uri="{FF2B5EF4-FFF2-40B4-BE49-F238E27FC236}">
                <a16:creationId xmlns:a16="http://schemas.microsoft.com/office/drawing/2014/main" id="{EDB5DB01-F17E-D68C-ECB7-3C8665B1C687}"/>
              </a:ext>
            </a:extLst>
          </p:cNvPr>
          <p:cNvSpPr txBox="1"/>
          <p:nvPr/>
        </p:nvSpPr>
        <p:spPr>
          <a:xfrm>
            <a:off x="8584731" y="5716161"/>
            <a:ext cx="2927758" cy="523220"/>
          </a:xfrm>
          <a:prstGeom prst="rect">
            <a:avLst/>
          </a:prstGeom>
          <a:noFill/>
        </p:spPr>
        <p:txBody>
          <a:bodyPr wrap="square" rtlCol="0">
            <a:spAutoFit/>
          </a:bodyPr>
          <a:lstStyle/>
          <a:p>
            <a:pPr algn="ctr"/>
            <a:r>
              <a:rPr lang="en-US" altLang="zh-CN" sz="2800" b="1" dirty="0">
                <a:solidFill>
                  <a:srgbClr val="FF0000"/>
                </a:solidFill>
              </a:rPr>
              <a:t>evaluation metrics</a:t>
            </a:r>
            <a:endParaRPr lang="zh-CN" altLang="en-US" sz="2800" b="1" dirty="0">
              <a:solidFill>
                <a:srgbClr val="FF0000"/>
              </a:solidFill>
            </a:endParaRPr>
          </a:p>
        </p:txBody>
      </p:sp>
      <p:sp>
        <p:nvSpPr>
          <p:cNvPr id="25" name="文本框 24">
            <a:extLst>
              <a:ext uri="{FF2B5EF4-FFF2-40B4-BE49-F238E27FC236}">
                <a16:creationId xmlns:a16="http://schemas.microsoft.com/office/drawing/2014/main" id="{F3D9439C-2E45-E385-D488-0F0A34D65D2E}"/>
              </a:ext>
            </a:extLst>
          </p:cNvPr>
          <p:cNvSpPr txBox="1"/>
          <p:nvPr/>
        </p:nvSpPr>
        <p:spPr>
          <a:xfrm>
            <a:off x="1004580" y="5685893"/>
            <a:ext cx="2927758" cy="523220"/>
          </a:xfrm>
          <a:prstGeom prst="rect">
            <a:avLst/>
          </a:prstGeom>
          <a:noFill/>
        </p:spPr>
        <p:txBody>
          <a:bodyPr wrap="square" rtlCol="0">
            <a:spAutoFit/>
          </a:bodyPr>
          <a:lstStyle/>
          <a:p>
            <a:pPr algn="ctr"/>
            <a:r>
              <a:rPr lang="en-US" altLang="zh-CN" sz="2800" b="1" dirty="0">
                <a:solidFill>
                  <a:srgbClr val="FF0000"/>
                </a:solidFill>
              </a:rPr>
              <a:t>variables</a:t>
            </a:r>
            <a:endParaRPr lang="zh-CN" altLang="en-US" sz="2800" b="1" dirty="0">
              <a:solidFill>
                <a:srgbClr val="FF0000"/>
              </a:solidFill>
            </a:endParaRPr>
          </a:p>
        </p:txBody>
      </p:sp>
    </p:spTree>
    <p:extLst>
      <p:ext uri="{BB962C8B-B14F-4D97-AF65-F5344CB8AC3E}">
        <p14:creationId xmlns:p14="http://schemas.microsoft.com/office/powerpoint/2010/main" val="1427579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10DD6C5D-7CCF-AAAC-4FB6-9D4717D3E718}"/>
              </a:ext>
            </a:extLst>
          </p:cNvPr>
          <p:cNvSpPr txBox="1"/>
          <p:nvPr/>
        </p:nvSpPr>
        <p:spPr>
          <a:xfrm>
            <a:off x="1184944" y="1461273"/>
            <a:ext cx="9955636" cy="2308324"/>
          </a:xfrm>
          <a:prstGeom prst="rect">
            <a:avLst/>
          </a:prstGeom>
          <a:noFill/>
        </p:spPr>
        <p:txBody>
          <a:bodyPr wrap="square">
            <a:spAutoFit/>
          </a:bodyPr>
          <a:lstStyle/>
          <a:p>
            <a:pPr marL="285750" indent="-285750" algn="l">
              <a:buFont typeface="Arial" panose="020B0604020202020204" pitchFamily="34" charset="0"/>
              <a:buChar char="•"/>
            </a:pPr>
            <a:r>
              <a:rPr lang="en-US" altLang="zh-CN" sz="2400" b="0" i="0" u="none" strike="noStrike" baseline="0" dirty="0">
                <a:latin typeface="TimesNewRomanPSMT"/>
              </a:rPr>
              <a:t>Available variables for </a:t>
            </a:r>
            <a:r>
              <a:rPr lang="en-US" altLang="zh-CN" sz="2400" b="1" i="1" u="none" strike="noStrike" baseline="0" dirty="0" err="1">
                <a:latin typeface="TimesNewRomanPS-BoldItalicMT"/>
              </a:rPr>
              <a:t>runCore</a:t>
            </a:r>
            <a:r>
              <a:rPr lang="en-US" altLang="zh-CN" sz="2400" b="1" i="1" u="none" strike="noStrike" baseline="0" dirty="0">
                <a:latin typeface="TimesNewRomanPS-BoldItalicMT"/>
              </a:rPr>
              <a:t>(</a:t>
            </a:r>
            <a:r>
              <a:rPr lang="en-US" altLang="zh-CN" sz="2400" b="1" i="1" u="none" strike="noStrike" baseline="0" dirty="0" err="1">
                <a:latin typeface="TimesNewRomanPS-BoldItalicMT"/>
              </a:rPr>
              <a:t>prm_path</a:t>
            </a:r>
            <a:r>
              <a:rPr lang="en-US" altLang="zh-CN" sz="2400" b="1" i="1" u="none" strike="noStrike" baseline="0" dirty="0">
                <a:latin typeface="TimesNewRomanPS-BoldItalicMT"/>
              </a:rPr>
              <a:t>): </a:t>
            </a:r>
            <a:r>
              <a:rPr lang="en-US" altLang="zh-CN" sz="2400" b="0" i="0" u="none" strike="noStrike" baseline="0" dirty="0" err="1">
                <a:latin typeface="TimesNewRomanPSMT"/>
              </a:rPr>
              <a:t>Ys</a:t>
            </a:r>
            <a:r>
              <a:rPr lang="en-US" altLang="zh-CN" sz="2400" b="0" i="0" u="none" strike="noStrike" baseline="0" dirty="0">
                <a:latin typeface="TimesNewRomanPSMT"/>
              </a:rPr>
              <a:t>, Yd, Sor, </a:t>
            </a:r>
            <a:r>
              <a:rPr lang="en-US" altLang="zh-CN" sz="2400" b="0" i="0" u="none" strike="noStrike" baseline="0" dirty="0" err="1">
                <a:latin typeface="TimesNewRomanPSMT"/>
              </a:rPr>
              <a:t>nfam</a:t>
            </a:r>
            <a:r>
              <a:rPr lang="en-US" altLang="zh-CN" sz="2400" b="0" i="0" u="none" strike="noStrike" baseline="0" dirty="0">
                <a:latin typeface="TimesNewRomanPSMT"/>
              </a:rPr>
              <a:t>, </a:t>
            </a:r>
            <a:r>
              <a:rPr lang="en-US" altLang="zh-CN" sz="2400" b="0" i="0" u="none" strike="noStrike" baseline="0" dirty="0" err="1">
                <a:latin typeface="TimesNewRomanPSMT"/>
              </a:rPr>
              <a:t>nfam_F</a:t>
            </a:r>
            <a:r>
              <a:rPr lang="en-US" altLang="zh-CN" sz="2400" b="0" i="0" u="none" strike="noStrike" baseline="0" dirty="0">
                <a:latin typeface="TimesNewRomanPSMT"/>
              </a:rPr>
              <a:t>, </a:t>
            </a:r>
            <a:r>
              <a:rPr lang="en-US" altLang="zh-CN" sz="2400" b="0" i="0" u="none" strike="noStrike" baseline="0" dirty="0" err="1">
                <a:latin typeface="TimesNewRomanPSMT"/>
              </a:rPr>
              <a:t>nfam_M</a:t>
            </a:r>
            <a:r>
              <a:rPr lang="en-US" altLang="zh-CN" sz="2400" b="0" i="0" u="none" strike="noStrike" baseline="0" dirty="0">
                <a:latin typeface="TimesNewRomanPSMT"/>
              </a:rPr>
              <a:t>, </a:t>
            </a:r>
            <a:r>
              <a:rPr lang="en-US" altLang="zh-CN" sz="2400" b="0" i="0" u="none" strike="noStrike" baseline="0" dirty="0" err="1">
                <a:latin typeface="TimesNewRomanPSMT"/>
              </a:rPr>
              <a:t>ngeno</a:t>
            </a:r>
            <a:r>
              <a:rPr lang="en-US" altLang="zh-CN" sz="2400" b="0" i="0" u="none" strike="noStrike" baseline="0" dirty="0">
                <a:latin typeface="TimesNewRomanPSMT"/>
              </a:rPr>
              <a:t>, </a:t>
            </a:r>
            <a:r>
              <a:rPr lang="en-US" altLang="zh-CN" sz="2400" b="0" i="0" u="none" strike="noStrike" baseline="0" dirty="0" err="1">
                <a:latin typeface="TimesNewRomanPSMT"/>
              </a:rPr>
              <a:t>nGeno_F</a:t>
            </a:r>
            <a:r>
              <a:rPr lang="en-US" altLang="zh-CN" sz="2400" b="0" i="0" u="none" strike="noStrike" baseline="0" dirty="0">
                <a:latin typeface="TimesNewRomanPSMT"/>
              </a:rPr>
              <a:t>, </a:t>
            </a:r>
            <a:r>
              <a:rPr lang="en-US" altLang="zh-CN" sz="2400" b="0" i="0" u="none" strike="noStrike" baseline="0" dirty="0" err="1">
                <a:latin typeface="TimesNewRomanPSMT"/>
              </a:rPr>
              <a:t>nGeno_M</a:t>
            </a:r>
            <a:r>
              <a:rPr lang="en-US" altLang="zh-CN" sz="2400" b="0" i="0" u="none" strike="noStrike" baseline="0" dirty="0">
                <a:latin typeface="TimesNewRomanPSMT"/>
              </a:rPr>
              <a:t>. Using </a:t>
            </a:r>
            <a:r>
              <a:rPr lang="en-US" altLang="zh-CN" sz="2400" b="0" i="0" u="none" strike="noStrike" baseline="0" dirty="0" err="1">
                <a:latin typeface="TimesNewRomanPSMT"/>
              </a:rPr>
              <a:t>nfam</a:t>
            </a:r>
            <a:r>
              <a:rPr lang="en-US" altLang="zh-CN" sz="2400" b="0" i="0" u="none" strike="noStrike" baseline="0" dirty="0">
                <a:latin typeface="TimesNewRomanPSMT"/>
              </a:rPr>
              <a:t> or </a:t>
            </a:r>
            <a:r>
              <a:rPr lang="en-US" altLang="zh-CN" sz="2400" b="0" i="0" u="none" strike="noStrike" baseline="0" dirty="0" err="1">
                <a:latin typeface="TimesNewRomanPSMT"/>
              </a:rPr>
              <a:t>ngeno</a:t>
            </a:r>
            <a:r>
              <a:rPr lang="en-US" altLang="zh-CN" sz="2400" b="0" i="0" u="none" strike="noStrike" baseline="0" dirty="0">
                <a:latin typeface="TimesNewRomanPSMT"/>
              </a:rPr>
              <a:t> means adjust </a:t>
            </a:r>
            <a:r>
              <a:rPr lang="en-US" altLang="zh-CN" sz="2400" b="0" i="0" u="none" strike="noStrike" baseline="0" dirty="0" err="1">
                <a:latin typeface="TimesNewRomanPSMT"/>
              </a:rPr>
              <a:t>nfam_F</a:t>
            </a:r>
            <a:r>
              <a:rPr lang="en-US" altLang="zh-CN" sz="2400" b="0" i="0" u="none" strike="noStrike" baseline="0" dirty="0">
                <a:latin typeface="TimesNewRomanPSMT"/>
              </a:rPr>
              <a:t> and </a:t>
            </a:r>
            <a:r>
              <a:rPr lang="en-US" altLang="zh-CN" sz="2400" b="0" i="0" u="none" strike="noStrike" baseline="0" dirty="0" err="1">
                <a:latin typeface="TimesNewRomanPSMT"/>
              </a:rPr>
              <a:t>nfam_M</a:t>
            </a:r>
            <a:r>
              <a:rPr lang="en-US" altLang="zh-CN" sz="2400" b="0" i="0" u="none" strike="noStrike" baseline="0" dirty="0">
                <a:latin typeface="TimesNewRomanPSMT"/>
              </a:rPr>
              <a:t> or </a:t>
            </a:r>
            <a:r>
              <a:rPr lang="en-US" altLang="zh-CN" sz="2400" b="0" i="0" u="none" strike="noStrike" baseline="0" dirty="0" err="1">
                <a:latin typeface="TimesNewRomanPSMT"/>
              </a:rPr>
              <a:t>nGeno_F</a:t>
            </a:r>
            <a:r>
              <a:rPr lang="en-US" altLang="zh-CN" sz="2400" b="0" i="0" u="none" strike="noStrike" baseline="0" dirty="0">
                <a:latin typeface="TimesNewRomanPSMT"/>
              </a:rPr>
              <a:t> and </a:t>
            </a:r>
            <a:r>
              <a:rPr lang="en-US" altLang="zh-CN" sz="2400" b="0" i="0" u="none" strike="noStrike" baseline="0" dirty="0" err="1">
                <a:latin typeface="TimesNewRomanPSMT"/>
              </a:rPr>
              <a:t>nGeno_M</a:t>
            </a:r>
            <a:r>
              <a:rPr lang="en-US" altLang="zh-CN" sz="2400" dirty="0">
                <a:latin typeface="TimesNewRomanPSMT"/>
              </a:rPr>
              <a:t> </a:t>
            </a:r>
            <a:r>
              <a:rPr lang="en-US" altLang="zh-CN" sz="2400" b="0" i="0" u="none" strike="noStrike" baseline="0" dirty="0">
                <a:latin typeface="TimesNewRomanPSMT"/>
              </a:rPr>
              <a:t>simultaneously.</a:t>
            </a:r>
            <a:endParaRPr lang="zh-CN" altLang="en-US" sz="2400" dirty="0"/>
          </a:p>
          <a:p>
            <a:pPr algn="l"/>
            <a:endParaRPr lang="en-US" altLang="zh-CN" sz="2400" b="1" dirty="0">
              <a:latin typeface="TimesNewRomanPS-BoldMT"/>
            </a:endParaRPr>
          </a:p>
          <a:p>
            <a:pPr marL="285750" indent="-285750" algn="l">
              <a:buFont typeface="Arial" panose="020B0604020202020204" pitchFamily="34" charset="0"/>
              <a:buChar char="•"/>
            </a:pPr>
            <a:r>
              <a:rPr lang="en-US" altLang="zh-CN" sz="2400" b="1" dirty="0">
                <a:latin typeface="TimesNewRomanPS-BoldMT"/>
              </a:rPr>
              <a:t>Setting variables in following parts in the parameter file.</a:t>
            </a:r>
          </a:p>
          <a:p>
            <a:r>
              <a:rPr lang="en-US" altLang="zh-CN" sz="2400" b="1" dirty="0">
                <a:latin typeface="TimesNewRomanPS-BoldMT"/>
              </a:rPr>
              <a:t> example:</a:t>
            </a:r>
            <a:endParaRPr lang="en-US" altLang="zh-CN" sz="2400" b="1" i="0" u="none" strike="noStrike" baseline="0" dirty="0">
              <a:latin typeface="TimesNewRomanPS-BoldMT"/>
            </a:endParaRPr>
          </a:p>
        </p:txBody>
      </p:sp>
      <p:sp>
        <p:nvSpPr>
          <p:cNvPr id="4" name="文本框 3">
            <a:extLst>
              <a:ext uri="{FF2B5EF4-FFF2-40B4-BE49-F238E27FC236}">
                <a16:creationId xmlns:a16="http://schemas.microsoft.com/office/drawing/2014/main" id="{1668ACA0-9C8D-25BB-EE52-B3F43DD87BA9}"/>
              </a:ext>
            </a:extLst>
          </p:cNvPr>
          <p:cNvSpPr txBox="1"/>
          <p:nvPr/>
        </p:nvSpPr>
        <p:spPr>
          <a:xfrm>
            <a:off x="4055378" y="416567"/>
            <a:ext cx="6094602" cy="523220"/>
          </a:xfrm>
          <a:prstGeom prst="rect">
            <a:avLst/>
          </a:prstGeom>
          <a:noFill/>
        </p:spPr>
        <p:txBody>
          <a:bodyPr wrap="square">
            <a:spAutoFit/>
          </a:bodyPr>
          <a:lstStyle/>
          <a:p>
            <a:pPr algn="l"/>
            <a:r>
              <a:rPr lang="en-US" altLang="zh-CN" sz="2800" b="1" i="0" u="none" strike="noStrike" baseline="0" dirty="0">
                <a:solidFill>
                  <a:srgbClr val="0070C0"/>
                </a:solidFill>
                <a:latin typeface="TimesNewRomanPS-BoldMT"/>
              </a:rPr>
              <a:t>How to set variables?</a:t>
            </a:r>
            <a:endParaRPr lang="zh-CN" altLang="en-US" sz="2800" dirty="0">
              <a:solidFill>
                <a:srgbClr val="0070C0"/>
              </a:solidFill>
            </a:endParaRPr>
          </a:p>
        </p:txBody>
      </p:sp>
      <p:sp>
        <p:nvSpPr>
          <p:cNvPr id="7" name="文本框 6">
            <a:extLst>
              <a:ext uri="{FF2B5EF4-FFF2-40B4-BE49-F238E27FC236}">
                <a16:creationId xmlns:a16="http://schemas.microsoft.com/office/drawing/2014/main" id="{2574F1EF-099D-C000-2DA8-22DA117F0924}"/>
              </a:ext>
            </a:extLst>
          </p:cNvPr>
          <p:cNvSpPr txBox="1"/>
          <p:nvPr/>
        </p:nvSpPr>
        <p:spPr>
          <a:xfrm>
            <a:off x="1486949" y="3967647"/>
            <a:ext cx="3756170" cy="1200329"/>
          </a:xfrm>
          <a:prstGeom prst="rect">
            <a:avLst/>
          </a:prstGeom>
          <a:solidFill>
            <a:schemeClr val="bg2"/>
          </a:solidFill>
        </p:spPr>
        <p:txBody>
          <a:bodyPr wrap="square">
            <a:spAutoFit/>
          </a:bodyPr>
          <a:lstStyle/>
          <a:p>
            <a:pPr algn="l"/>
            <a:r>
              <a:rPr lang="en-US" altLang="zh-CN" sz="2400" b="1" i="0" u="none" strike="noStrike" baseline="0" dirty="0">
                <a:latin typeface="TimesNewRomanPS-BoldMT"/>
              </a:rPr>
              <a:t>### VARIABLES ###</a:t>
            </a:r>
          </a:p>
          <a:p>
            <a:pPr algn="l"/>
            <a:r>
              <a:rPr lang="en-US" altLang="zh-CN" sz="2400" b="1" dirty="0" err="1">
                <a:latin typeface="TimesNewRomanPS-BoldMT"/>
              </a:rPr>
              <a:t>Ys</a:t>
            </a:r>
            <a:r>
              <a:rPr lang="en-US" altLang="zh-CN" sz="2400" b="1" dirty="0">
                <a:latin typeface="TimesNewRomanPS-BoldMT"/>
              </a:rPr>
              <a:t> 1 2 3 4</a:t>
            </a:r>
          </a:p>
          <a:p>
            <a:pPr algn="l"/>
            <a:r>
              <a:rPr lang="en-US" altLang="zh-CN" sz="2400" b="1" i="0" u="none" strike="noStrike" baseline="0" dirty="0">
                <a:latin typeface="TimesNewRomanPS-BoldMT"/>
              </a:rPr>
              <a:t>Yd 2 4 6</a:t>
            </a:r>
          </a:p>
        </p:txBody>
      </p:sp>
      <p:sp>
        <p:nvSpPr>
          <p:cNvPr id="9" name="文本框 8">
            <a:extLst>
              <a:ext uri="{FF2B5EF4-FFF2-40B4-BE49-F238E27FC236}">
                <a16:creationId xmlns:a16="http://schemas.microsoft.com/office/drawing/2014/main" id="{F6817201-7C24-A970-F450-CBBB794AF512}"/>
              </a:ext>
            </a:extLst>
          </p:cNvPr>
          <p:cNvSpPr txBox="1"/>
          <p:nvPr/>
        </p:nvSpPr>
        <p:spPr>
          <a:xfrm>
            <a:off x="958441" y="5514172"/>
            <a:ext cx="10526088" cy="400110"/>
          </a:xfrm>
          <a:prstGeom prst="rect">
            <a:avLst/>
          </a:prstGeom>
          <a:solidFill>
            <a:srgbClr val="FFFFCC"/>
          </a:solidFill>
        </p:spPr>
        <p:txBody>
          <a:bodyPr wrap="square">
            <a:spAutoFit/>
          </a:bodyPr>
          <a:lstStyle/>
          <a:p>
            <a:pPr algn="l"/>
            <a:r>
              <a:rPr lang="en-US" altLang="zh-CN" sz="2000" b="0" i="0" u="none" strike="noStrike" baseline="0" dirty="0">
                <a:latin typeface="TimesNewRomanPSMT"/>
              </a:rPr>
              <a:t>Note: Other parameters can also be modified, but you need to run them separately to compare them.</a:t>
            </a:r>
            <a:endParaRPr lang="zh-CN" altLang="en-US" sz="2000" dirty="0"/>
          </a:p>
        </p:txBody>
      </p:sp>
    </p:spTree>
    <p:extLst>
      <p:ext uri="{BB962C8B-B14F-4D97-AF65-F5344CB8AC3E}">
        <p14:creationId xmlns:p14="http://schemas.microsoft.com/office/powerpoint/2010/main" val="163144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B0C9506D-3A84-35E4-CACF-8A754733F0A4}"/>
              </a:ext>
            </a:extLst>
          </p:cNvPr>
          <p:cNvSpPr txBox="1"/>
          <p:nvPr/>
        </p:nvSpPr>
        <p:spPr>
          <a:xfrm>
            <a:off x="958442" y="1446911"/>
            <a:ext cx="11046204" cy="1815882"/>
          </a:xfrm>
          <a:prstGeom prst="rect">
            <a:avLst/>
          </a:prstGeom>
          <a:noFill/>
        </p:spPr>
        <p:txBody>
          <a:bodyPr wrap="square">
            <a:spAutoFit/>
          </a:bodyPr>
          <a:lstStyle/>
          <a:p>
            <a:r>
              <a:rPr lang="en-US" altLang="zh-CN" sz="2800" b="1" dirty="0">
                <a:solidFill>
                  <a:srgbClr val="1F2328"/>
                </a:solidFill>
                <a:latin typeface="-apple-system"/>
              </a:rPr>
              <a:t>Demo 1:</a:t>
            </a:r>
          </a:p>
          <a:p>
            <a:r>
              <a:rPr lang="en-US" altLang="zh-CN" sz="2800" dirty="0">
                <a:solidFill>
                  <a:srgbClr val="1F2328"/>
                </a:solidFill>
                <a:latin typeface="-apple-system"/>
              </a:rPr>
              <a:t>E</a:t>
            </a:r>
            <a:r>
              <a:rPr lang="en-US" altLang="zh-CN" sz="2800" i="0" dirty="0">
                <a:solidFill>
                  <a:srgbClr val="1F2328"/>
                </a:solidFill>
                <a:effectLst/>
                <a:latin typeface="-apple-system"/>
              </a:rPr>
              <a:t>stimating the results of the nucleus breeding program with different productive lifetime of dams (the variable's symbol is "Yd").</a:t>
            </a:r>
          </a:p>
          <a:p>
            <a:endParaRPr lang="zh-CN" altLang="en-US" sz="2800" dirty="0"/>
          </a:p>
        </p:txBody>
      </p:sp>
      <p:sp>
        <p:nvSpPr>
          <p:cNvPr id="8" name="文本框 7">
            <a:extLst>
              <a:ext uri="{FF2B5EF4-FFF2-40B4-BE49-F238E27FC236}">
                <a16:creationId xmlns:a16="http://schemas.microsoft.com/office/drawing/2014/main" id="{20B254DB-6247-8480-D19D-887EA381E5B3}"/>
              </a:ext>
            </a:extLst>
          </p:cNvPr>
          <p:cNvSpPr txBox="1"/>
          <p:nvPr/>
        </p:nvSpPr>
        <p:spPr>
          <a:xfrm>
            <a:off x="958442" y="3415973"/>
            <a:ext cx="6094602" cy="830997"/>
          </a:xfrm>
          <a:prstGeom prst="rect">
            <a:avLst/>
          </a:prstGeom>
          <a:solidFill>
            <a:schemeClr val="bg2"/>
          </a:solidFill>
        </p:spPr>
        <p:txBody>
          <a:bodyPr wrap="square">
            <a:spAutoFit/>
          </a:bodyPr>
          <a:lstStyle/>
          <a:p>
            <a:pPr algn="l"/>
            <a:r>
              <a:rPr lang="en-US" altLang="zh-CN" sz="2400" b="0" i="0" dirty="0" err="1">
                <a:solidFill>
                  <a:srgbClr val="1F2328"/>
                </a:solidFill>
                <a:effectLst/>
                <a:latin typeface="-apple-system"/>
              </a:rPr>
              <a:t>setwd</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example_prm</a:t>
            </a:r>
            <a:r>
              <a:rPr lang="en-US" altLang="zh-CN" sz="2400" b="0" i="0" dirty="0">
                <a:solidFill>
                  <a:srgbClr val="1F2328"/>
                </a:solidFill>
                <a:effectLst/>
                <a:latin typeface="-apple-system"/>
              </a:rPr>
              <a:t>")</a:t>
            </a:r>
          </a:p>
          <a:p>
            <a:pPr algn="l"/>
            <a:r>
              <a:rPr lang="en-US" altLang="zh-CN" sz="2400" b="0" i="0" dirty="0" err="1">
                <a:solidFill>
                  <a:srgbClr val="1F2328"/>
                </a:solidFill>
                <a:effectLst/>
                <a:latin typeface="-apple-system"/>
              </a:rPr>
              <a:t>runCore</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prm_path</a:t>
            </a:r>
            <a:r>
              <a:rPr lang="en-US" altLang="zh-CN" sz="2400" b="0" i="0" dirty="0">
                <a:solidFill>
                  <a:srgbClr val="1F2328"/>
                </a:solidFill>
                <a:effectLst/>
                <a:latin typeface="-apple-system"/>
              </a:rPr>
              <a:t> = "prm_Core.txt")</a:t>
            </a:r>
          </a:p>
        </p:txBody>
      </p:sp>
    </p:spTree>
    <p:extLst>
      <p:ext uri="{BB962C8B-B14F-4D97-AF65-F5344CB8AC3E}">
        <p14:creationId xmlns:p14="http://schemas.microsoft.com/office/powerpoint/2010/main" val="2200418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pic>
        <p:nvPicPr>
          <p:cNvPr id="4" name="图片 3">
            <a:extLst>
              <a:ext uri="{FF2B5EF4-FFF2-40B4-BE49-F238E27FC236}">
                <a16:creationId xmlns:a16="http://schemas.microsoft.com/office/drawing/2014/main" id="{3D4899FB-811B-2D0A-70E0-4E298E79E659}"/>
              </a:ext>
            </a:extLst>
          </p:cNvPr>
          <p:cNvPicPr>
            <a:picLocks noChangeAspect="1"/>
          </p:cNvPicPr>
          <p:nvPr/>
        </p:nvPicPr>
        <p:blipFill>
          <a:blip r:embed="rId2"/>
          <a:stretch>
            <a:fillRect/>
          </a:stretch>
        </p:blipFill>
        <p:spPr>
          <a:xfrm>
            <a:off x="817598" y="2936237"/>
            <a:ext cx="10823085" cy="1140811"/>
          </a:xfrm>
          <a:prstGeom prst="rect">
            <a:avLst/>
          </a:prstGeom>
        </p:spPr>
      </p:pic>
      <p:sp>
        <p:nvSpPr>
          <p:cNvPr id="5" name="文本框 4">
            <a:extLst>
              <a:ext uri="{FF2B5EF4-FFF2-40B4-BE49-F238E27FC236}">
                <a16:creationId xmlns:a16="http://schemas.microsoft.com/office/drawing/2014/main" id="{E76198C2-6D95-8CC0-B8F2-1FB867CAE5F7}"/>
              </a:ext>
            </a:extLst>
          </p:cNvPr>
          <p:cNvSpPr txBox="1"/>
          <p:nvPr/>
        </p:nvSpPr>
        <p:spPr>
          <a:xfrm>
            <a:off x="817598" y="1430181"/>
            <a:ext cx="11046204" cy="523220"/>
          </a:xfrm>
          <a:prstGeom prst="rect">
            <a:avLst/>
          </a:prstGeom>
          <a:noFill/>
        </p:spPr>
        <p:txBody>
          <a:bodyPr wrap="square">
            <a:spAutoFit/>
          </a:bodyPr>
          <a:lstStyle/>
          <a:p>
            <a:r>
              <a:rPr lang="en-US" altLang="zh-CN" sz="2800" b="1" dirty="0">
                <a:solidFill>
                  <a:srgbClr val="1F2328"/>
                </a:solidFill>
                <a:latin typeface="-apple-system"/>
              </a:rPr>
              <a:t>Results:</a:t>
            </a:r>
            <a:endParaRPr lang="zh-CN" altLang="en-US" sz="2800" dirty="0"/>
          </a:p>
        </p:txBody>
      </p:sp>
      <p:sp>
        <p:nvSpPr>
          <p:cNvPr id="8" name="文本框 7">
            <a:extLst>
              <a:ext uri="{FF2B5EF4-FFF2-40B4-BE49-F238E27FC236}">
                <a16:creationId xmlns:a16="http://schemas.microsoft.com/office/drawing/2014/main" id="{98EC202F-2C9E-DA9D-E2F0-71DD5357C953}"/>
              </a:ext>
            </a:extLst>
          </p:cNvPr>
          <p:cNvSpPr txBox="1"/>
          <p:nvPr/>
        </p:nvSpPr>
        <p:spPr>
          <a:xfrm>
            <a:off x="817598" y="2260153"/>
            <a:ext cx="6094602" cy="461665"/>
          </a:xfrm>
          <a:prstGeom prst="rect">
            <a:avLst/>
          </a:prstGeom>
          <a:noFill/>
        </p:spPr>
        <p:txBody>
          <a:bodyPr wrap="square">
            <a:spAutoFit/>
          </a:bodyPr>
          <a:lstStyle/>
          <a:p>
            <a:r>
              <a:rPr lang="en-US" altLang="zh-CN" sz="2400" b="1" i="0" u="none" strike="noStrike" baseline="0" dirty="0">
                <a:latin typeface="TimesNewRomanPS-BoldMT"/>
              </a:rPr>
              <a:t>coreOut.xlsx:</a:t>
            </a:r>
            <a:endParaRPr lang="zh-CN" altLang="en-US" sz="2400" dirty="0"/>
          </a:p>
        </p:txBody>
      </p:sp>
      <p:sp>
        <p:nvSpPr>
          <p:cNvPr id="9" name="矩形 8">
            <a:extLst>
              <a:ext uri="{FF2B5EF4-FFF2-40B4-BE49-F238E27FC236}">
                <a16:creationId xmlns:a16="http://schemas.microsoft.com/office/drawing/2014/main" id="{167E79A9-4CA2-7FF2-B60D-E5C4DC2F1D9F}"/>
              </a:ext>
            </a:extLst>
          </p:cNvPr>
          <p:cNvSpPr/>
          <p:nvPr/>
        </p:nvSpPr>
        <p:spPr>
          <a:xfrm>
            <a:off x="746620" y="3003259"/>
            <a:ext cx="1795244" cy="1073789"/>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8F4C3EC-9E1E-B8C4-4C37-5CE9EC46E469}"/>
              </a:ext>
            </a:extLst>
          </p:cNvPr>
          <p:cNvSpPr txBox="1"/>
          <p:nvPr/>
        </p:nvSpPr>
        <p:spPr>
          <a:xfrm>
            <a:off x="639660" y="4385179"/>
            <a:ext cx="2304876" cy="1569660"/>
          </a:xfrm>
          <a:prstGeom prst="rect">
            <a:avLst/>
          </a:prstGeom>
          <a:noFill/>
        </p:spPr>
        <p:txBody>
          <a:bodyPr wrap="square">
            <a:spAutoFit/>
          </a:bodyPr>
          <a:lstStyle/>
          <a:p>
            <a:r>
              <a:rPr lang="en-US" altLang="zh-CN" sz="2400" b="0" i="0" u="none" strike="noStrike" baseline="0" dirty="0">
                <a:solidFill>
                  <a:srgbClr val="0070C0"/>
                </a:solidFill>
                <a:latin typeface="TimesNewRomanPSMT"/>
              </a:rPr>
              <a:t>Mean value and stand error of relative genetic progress</a:t>
            </a:r>
            <a:endParaRPr lang="zh-CN" altLang="en-US" sz="2400" dirty="0">
              <a:solidFill>
                <a:srgbClr val="0070C0"/>
              </a:solidFill>
            </a:endParaRPr>
          </a:p>
        </p:txBody>
      </p:sp>
      <p:sp>
        <p:nvSpPr>
          <p:cNvPr id="12" name="矩形 11">
            <a:extLst>
              <a:ext uri="{FF2B5EF4-FFF2-40B4-BE49-F238E27FC236}">
                <a16:creationId xmlns:a16="http://schemas.microsoft.com/office/drawing/2014/main" id="{A3B586A2-5C4E-0731-0B3B-88490B0009A2}"/>
              </a:ext>
            </a:extLst>
          </p:cNvPr>
          <p:cNvSpPr/>
          <p:nvPr/>
        </p:nvSpPr>
        <p:spPr>
          <a:xfrm>
            <a:off x="4704127" y="3028570"/>
            <a:ext cx="1084277" cy="1073789"/>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680CE23-4380-CF5C-FD03-501C8ACDF76B}"/>
              </a:ext>
            </a:extLst>
          </p:cNvPr>
          <p:cNvSpPr/>
          <p:nvPr/>
        </p:nvSpPr>
        <p:spPr>
          <a:xfrm>
            <a:off x="8054829" y="2954412"/>
            <a:ext cx="2976693" cy="1073789"/>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45967201-C64A-7953-A0CA-4841845268D6}"/>
              </a:ext>
            </a:extLst>
          </p:cNvPr>
          <p:cNvSpPr/>
          <p:nvPr/>
        </p:nvSpPr>
        <p:spPr>
          <a:xfrm>
            <a:off x="2606179" y="3003258"/>
            <a:ext cx="2033632" cy="1073789"/>
          </a:xfrm>
          <a:prstGeom prst="rect">
            <a:avLst/>
          </a:prstGeom>
          <a:noFill/>
          <a:ln>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F8D51FE-859E-007D-9E8E-391A466C81DA}"/>
              </a:ext>
            </a:extLst>
          </p:cNvPr>
          <p:cNvSpPr/>
          <p:nvPr/>
        </p:nvSpPr>
        <p:spPr>
          <a:xfrm>
            <a:off x="5904800" y="3001050"/>
            <a:ext cx="2033632" cy="1073789"/>
          </a:xfrm>
          <a:prstGeom prst="rect">
            <a:avLst/>
          </a:prstGeom>
          <a:noFill/>
          <a:ln>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6E895731-10CE-489C-554B-1D3B1FB8B686}"/>
              </a:ext>
            </a:extLst>
          </p:cNvPr>
          <p:cNvSpPr/>
          <p:nvPr/>
        </p:nvSpPr>
        <p:spPr>
          <a:xfrm>
            <a:off x="11132867" y="2957708"/>
            <a:ext cx="435551" cy="1073789"/>
          </a:xfrm>
          <a:prstGeom prst="rect">
            <a:avLst/>
          </a:prstGeom>
          <a:noFill/>
          <a:ln>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B33AA39C-DB63-2C54-263D-9F8C5A341FA4}"/>
              </a:ext>
            </a:extLst>
          </p:cNvPr>
          <p:cNvSpPr txBox="1"/>
          <p:nvPr/>
        </p:nvSpPr>
        <p:spPr>
          <a:xfrm>
            <a:off x="2776755" y="1581842"/>
            <a:ext cx="2667699" cy="1200329"/>
          </a:xfrm>
          <a:prstGeom prst="rect">
            <a:avLst/>
          </a:prstGeom>
          <a:noFill/>
        </p:spPr>
        <p:txBody>
          <a:bodyPr wrap="square">
            <a:spAutoFit/>
          </a:bodyPr>
          <a:lstStyle/>
          <a:p>
            <a:r>
              <a:rPr lang="en-US" altLang="zh-CN" sz="2400" b="0" i="0" u="none" strike="noStrike" baseline="0" dirty="0">
                <a:solidFill>
                  <a:srgbClr val="0070C0"/>
                </a:solidFill>
                <a:latin typeface="TimesNewRomanPSMT"/>
              </a:rPr>
              <a:t>Mean value and stand error of inbreeding increase</a:t>
            </a:r>
            <a:endParaRPr lang="zh-CN" altLang="en-US" sz="2400" dirty="0">
              <a:solidFill>
                <a:srgbClr val="0070C0"/>
              </a:solidFill>
            </a:endParaRPr>
          </a:p>
        </p:txBody>
      </p:sp>
      <p:sp>
        <p:nvSpPr>
          <p:cNvPr id="20" name="文本框 19">
            <a:extLst>
              <a:ext uri="{FF2B5EF4-FFF2-40B4-BE49-F238E27FC236}">
                <a16:creationId xmlns:a16="http://schemas.microsoft.com/office/drawing/2014/main" id="{A4738B86-5B1B-206A-64B4-87333A984CD7}"/>
              </a:ext>
            </a:extLst>
          </p:cNvPr>
          <p:cNvSpPr txBox="1"/>
          <p:nvPr/>
        </p:nvSpPr>
        <p:spPr>
          <a:xfrm>
            <a:off x="5689133" y="1628698"/>
            <a:ext cx="3049399" cy="1200329"/>
          </a:xfrm>
          <a:prstGeom prst="rect">
            <a:avLst/>
          </a:prstGeom>
          <a:noFill/>
        </p:spPr>
        <p:txBody>
          <a:bodyPr wrap="square">
            <a:spAutoFit/>
          </a:bodyPr>
          <a:lstStyle/>
          <a:p>
            <a:r>
              <a:rPr lang="en-US" altLang="zh-CN" sz="2400" b="0" i="0" u="none" strike="noStrike" baseline="0" dirty="0">
                <a:solidFill>
                  <a:srgbClr val="0070C0"/>
                </a:solidFill>
                <a:latin typeface="TimesNewRomanPSMT"/>
              </a:rPr>
              <a:t>Mean value and stand error of the predicted mean phenotype</a:t>
            </a:r>
            <a:endParaRPr lang="zh-CN" altLang="en-US" sz="2400" dirty="0">
              <a:solidFill>
                <a:srgbClr val="0070C0"/>
              </a:solidFill>
            </a:endParaRPr>
          </a:p>
        </p:txBody>
      </p:sp>
      <p:sp>
        <p:nvSpPr>
          <p:cNvPr id="21" name="文本框 20">
            <a:extLst>
              <a:ext uri="{FF2B5EF4-FFF2-40B4-BE49-F238E27FC236}">
                <a16:creationId xmlns:a16="http://schemas.microsoft.com/office/drawing/2014/main" id="{3396CAC3-3D9D-A1BA-FC72-E753D6D8A50D}"/>
              </a:ext>
            </a:extLst>
          </p:cNvPr>
          <p:cNvSpPr txBox="1"/>
          <p:nvPr/>
        </p:nvSpPr>
        <p:spPr>
          <a:xfrm>
            <a:off x="3982676" y="4291467"/>
            <a:ext cx="2667699" cy="461665"/>
          </a:xfrm>
          <a:prstGeom prst="rect">
            <a:avLst/>
          </a:prstGeom>
          <a:noFill/>
        </p:spPr>
        <p:txBody>
          <a:bodyPr wrap="square">
            <a:spAutoFit/>
          </a:bodyPr>
          <a:lstStyle/>
          <a:p>
            <a:r>
              <a:rPr lang="en-US" altLang="zh-CN" sz="2400" b="0" i="0" u="none" strike="noStrike" baseline="0" dirty="0">
                <a:solidFill>
                  <a:srgbClr val="0070C0"/>
                </a:solidFill>
                <a:latin typeface="TimesNewRomanPSMT"/>
              </a:rPr>
              <a:t>The economic profit</a:t>
            </a:r>
            <a:endParaRPr lang="zh-CN" altLang="en-US" sz="2400" dirty="0">
              <a:solidFill>
                <a:srgbClr val="0070C0"/>
              </a:solidFill>
            </a:endParaRPr>
          </a:p>
        </p:txBody>
      </p:sp>
      <p:sp>
        <p:nvSpPr>
          <p:cNvPr id="22" name="文本框 21">
            <a:extLst>
              <a:ext uri="{FF2B5EF4-FFF2-40B4-BE49-F238E27FC236}">
                <a16:creationId xmlns:a16="http://schemas.microsoft.com/office/drawing/2014/main" id="{32A8B32F-A40A-2AF3-1978-446B07F6D36E}"/>
              </a:ext>
            </a:extLst>
          </p:cNvPr>
          <p:cNvSpPr txBox="1"/>
          <p:nvPr/>
        </p:nvSpPr>
        <p:spPr>
          <a:xfrm>
            <a:off x="7688515" y="4291467"/>
            <a:ext cx="4001549" cy="1200329"/>
          </a:xfrm>
          <a:prstGeom prst="rect">
            <a:avLst/>
          </a:prstGeom>
          <a:noFill/>
        </p:spPr>
        <p:txBody>
          <a:bodyPr wrap="square">
            <a:spAutoFit/>
          </a:bodyPr>
          <a:lstStyle/>
          <a:p>
            <a:r>
              <a:rPr lang="en-US" altLang="zh-CN" sz="2400" b="0" i="0" u="none" strike="noStrike" baseline="0" dirty="0">
                <a:solidFill>
                  <a:srgbClr val="0070C0"/>
                </a:solidFill>
                <a:latin typeface="TimesNewRomanPSMT"/>
              </a:rPr>
              <a:t>Mean value and stand error of population genetic variance</a:t>
            </a:r>
          </a:p>
          <a:p>
            <a:r>
              <a:rPr lang="en-US" altLang="zh-CN" sz="2400" b="0" i="0" u="none" strike="noStrike" baseline="0" dirty="0">
                <a:solidFill>
                  <a:srgbClr val="0070C0"/>
                </a:solidFill>
                <a:latin typeface="TimesNewRomanPSMT"/>
              </a:rPr>
              <a:t>decrease of phenotype</a:t>
            </a:r>
            <a:endParaRPr lang="zh-CN" altLang="en-US" sz="2400" dirty="0">
              <a:solidFill>
                <a:srgbClr val="0070C0"/>
              </a:solidFill>
            </a:endParaRPr>
          </a:p>
        </p:txBody>
      </p:sp>
      <p:sp>
        <p:nvSpPr>
          <p:cNvPr id="23" name="文本框 22">
            <a:extLst>
              <a:ext uri="{FF2B5EF4-FFF2-40B4-BE49-F238E27FC236}">
                <a16:creationId xmlns:a16="http://schemas.microsoft.com/office/drawing/2014/main" id="{E9AC8E31-6C7A-7B06-C033-F4A96F082405}"/>
              </a:ext>
            </a:extLst>
          </p:cNvPr>
          <p:cNvSpPr txBox="1"/>
          <p:nvPr/>
        </p:nvSpPr>
        <p:spPr>
          <a:xfrm>
            <a:off x="9697672" y="1766507"/>
            <a:ext cx="2667699" cy="830997"/>
          </a:xfrm>
          <a:prstGeom prst="rect">
            <a:avLst/>
          </a:prstGeom>
          <a:noFill/>
        </p:spPr>
        <p:txBody>
          <a:bodyPr wrap="square">
            <a:spAutoFit/>
          </a:bodyPr>
          <a:lstStyle/>
          <a:p>
            <a:r>
              <a:rPr lang="en-US" altLang="zh-CN" sz="2400" b="0" i="0" u="none" strike="noStrike" baseline="0" dirty="0">
                <a:solidFill>
                  <a:srgbClr val="0070C0"/>
                </a:solidFill>
                <a:latin typeface="TimesNewRomanPSMT"/>
              </a:rPr>
              <a:t>name of variation combination</a:t>
            </a:r>
            <a:endParaRPr lang="zh-CN" altLang="en-US" sz="2400" dirty="0">
              <a:solidFill>
                <a:srgbClr val="0070C0"/>
              </a:solidFill>
            </a:endParaRPr>
          </a:p>
        </p:txBody>
      </p:sp>
      <p:cxnSp>
        <p:nvCxnSpPr>
          <p:cNvPr id="25" name="直接箭头连接符 24">
            <a:extLst>
              <a:ext uri="{FF2B5EF4-FFF2-40B4-BE49-F238E27FC236}">
                <a16:creationId xmlns:a16="http://schemas.microsoft.com/office/drawing/2014/main" id="{0B729541-FA8A-CF48-9AD9-D33663D890C2}"/>
              </a:ext>
            </a:extLst>
          </p:cNvPr>
          <p:cNvCxnSpPr>
            <a:stCxn id="9" idx="2"/>
            <a:endCxn id="11" idx="0"/>
          </p:cNvCxnSpPr>
          <p:nvPr/>
        </p:nvCxnSpPr>
        <p:spPr>
          <a:xfrm>
            <a:off x="1644242" y="4077048"/>
            <a:ext cx="147856" cy="3081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BCBB2023-E517-2EB8-1523-6A69F7B082CF}"/>
              </a:ext>
            </a:extLst>
          </p:cNvPr>
          <p:cNvCxnSpPr/>
          <p:nvPr/>
        </p:nvCxnSpPr>
        <p:spPr>
          <a:xfrm>
            <a:off x="5242597" y="4112090"/>
            <a:ext cx="147856" cy="3081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10EBFDF4-15EF-BD42-394E-C844CE707332}"/>
              </a:ext>
            </a:extLst>
          </p:cNvPr>
          <p:cNvCxnSpPr/>
          <p:nvPr/>
        </p:nvCxnSpPr>
        <p:spPr>
          <a:xfrm>
            <a:off x="9549816" y="4077048"/>
            <a:ext cx="147856" cy="3081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C7981BAD-2A89-3232-041B-710089F84A01}"/>
              </a:ext>
            </a:extLst>
          </p:cNvPr>
          <p:cNvCxnSpPr>
            <a:cxnSpLocks/>
          </p:cNvCxnSpPr>
          <p:nvPr/>
        </p:nvCxnSpPr>
        <p:spPr>
          <a:xfrm flipV="1">
            <a:off x="3717043" y="2681710"/>
            <a:ext cx="89810" cy="2521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43A8160C-DBAC-717B-CFEA-072CCADE9A07}"/>
              </a:ext>
            </a:extLst>
          </p:cNvPr>
          <p:cNvCxnSpPr>
            <a:cxnSpLocks/>
          </p:cNvCxnSpPr>
          <p:nvPr/>
        </p:nvCxnSpPr>
        <p:spPr>
          <a:xfrm flipV="1">
            <a:off x="6867295" y="2733144"/>
            <a:ext cx="89810" cy="2521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1BF5B7A3-5B1D-537A-5615-078A2FC284B2}"/>
              </a:ext>
            </a:extLst>
          </p:cNvPr>
          <p:cNvCxnSpPr>
            <a:cxnSpLocks/>
            <a:endCxn id="23" idx="2"/>
          </p:cNvCxnSpPr>
          <p:nvPr/>
        </p:nvCxnSpPr>
        <p:spPr>
          <a:xfrm flipH="1" flipV="1">
            <a:off x="11031522" y="2597504"/>
            <a:ext cx="274215" cy="32893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5934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runCore</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B0C9506D-3A84-35E4-CACF-8A754733F0A4}"/>
              </a:ext>
            </a:extLst>
          </p:cNvPr>
          <p:cNvSpPr txBox="1"/>
          <p:nvPr/>
        </p:nvSpPr>
        <p:spPr>
          <a:xfrm>
            <a:off x="976269" y="1329466"/>
            <a:ext cx="11046204" cy="4401205"/>
          </a:xfrm>
          <a:prstGeom prst="rect">
            <a:avLst/>
          </a:prstGeom>
          <a:noFill/>
        </p:spPr>
        <p:txBody>
          <a:bodyPr wrap="square">
            <a:spAutoFit/>
          </a:bodyPr>
          <a:lstStyle/>
          <a:p>
            <a:r>
              <a:rPr lang="en-US" altLang="zh-CN" sz="2800" b="1" dirty="0">
                <a:solidFill>
                  <a:srgbClr val="1F2328"/>
                </a:solidFill>
                <a:latin typeface="-apple-system"/>
              </a:rPr>
              <a:t>Results:</a:t>
            </a:r>
          </a:p>
          <a:p>
            <a:endParaRPr lang="en-US" altLang="zh-CN" sz="2800" b="1" dirty="0">
              <a:solidFill>
                <a:srgbClr val="1F2328"/>
              </a:solidFill>
              <a:latin typeface="-apple-system"/>
            </a:endParaRPr>
          </a:p>
          <a:p>
            <a:pPr marL="457200" indent="-457200">
              <a:buFont typeface="Arial" panose="020B0604020202020204" pitchFamily="34" charset="0"/>
              <a:buChar char="•"/>
            </a:pPr>
            <a:r>
              <a:rPr lang="en-US" altLang="zh-CN" sz="2800" b="1" dirty="0">
                <a:solidFill>
                  <a:srgbClr val="1F2328"/>
                </a:solidFill>
                <a:latin typeface="-apple-system"/>
              </a:rPr>
              <a:t>coreOut_detail.xlsx:</a:t>
            </a:r>
          </a:p>
          <a:p>
            <a:r>
              <a:rPr lang="en-US" altLang="zh-CN" sz="2800" dirty="0">
                <a:solidFill>
                  <a:srgbClr val="1F2328"/>
                </a:solidFill>
                <a:latin typeface="-apple-system"/>
              </a:rPr>
              <a:t>records the information of each breeding season, and each type of information is saved in a separate sheet.</a:t>
            </a:r>
          </a:p>
          <a:p>
            <a:endParaRPr lang="en-US" altLang="zh-CN" sz="2800" dirty="0">
              <a:solidFill>
                <a:srgbClr val="1F2328"/>
              </a:solidFill>
              <a:latin typeface="-apple-system"/>
            </a:endParaRPr>
          </a:p>
          <a:p>
            <a:pPr marL="457200" indent="-457200">
              <a:buFont typeface="Arial" panose="020B0604020202020204" pitchFamily="34" charset="0"/>
              <a:buChar char="•"/>
            </a:pPr>
            <a:r>
              <a:rPr lang="en-US" altLang="zh-CN" sz="2800" b="1" dirty="0"/>
              <a:t>detailInfo.txt:</a:t>
            </a:r>
          </a:p>
          <a:p>
            <a:r>
              <a:rPr lang="en-US" altLang="zh-CN" sz="2800" dirty="0"/>
              <a:t>shows information about the population structure and breeding details under different</a:t>
            </a:r>
          </a:p>
          <a:p>
            <a:r>
              <a:rPr lang="en-US" altLang="zh-CN" sz="2800" dirty="0"/>
              <a:t>variation combinations</a:t>
            </a:r>
            <a:endParaRPr lang="zh-CN" altLang="en-US" sz="2800" dirty="0"/>
          </a:p>
        </p:txBody>
      </p:sp>
    </p:spTree>
    <p:extLst>
      <p:ext uri="{BB962C8B-B14F-4D97-AF65-F5344CB8AC3E}">
        <p14:creationId xmlns:p14="http://schemas.microsoft.com/office/powerpoint/2010/main" val="1309044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runWhole</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366EE55D-148F-4546-C088-A8B85B595E5A}"/>
              </a:ext>
            </a:extLst>
          </p:cNvPr>
          <p:cNvSpPr txBox="1"/>
          <p:nvPr/>
        </p:nvSpPr>
        <p:spPr>
          <a:xfrm>
            <a:off x="701878" y="1453211"/>
            <a:ext cx="10788244" cy="3831177"/>
          </a:xfrm>
          <a:prstGeom prst="rect">
            <a:avLst/>
          </a:prstGeom>
          <a:noFill/>
        </p:spPr>
        <p:txBody>
          <a:bodyPr wrap="square">
            <a:spAutoFit/>
          </a:bodyPr>
          <a:lstStyle/>
          <a:p>
            <a:pPr marL="384048" lvl="1" indent="-182880" defTabSz="914400">
              <a:lnSpc>
                <a:spcPct val="120000"/>
              </a:lnSpc>
              <a:spcBef>
                <a:spcPts val="600"/>
              </a:spcBef>
              <a:spcAft>
                <a:spcPts val="600"/>
              </a:spcAft>
              <a:buClr>
                <a:schemeClr val="accent1"/>
              </a:buClr>
              <a:buFont typeface="Calibri" pitchFamily="34" charset="0"/>
              <a:buChar char="◦"/>
            </a:pPr>
            <a:r>
              <a:rPr lang="en-US" altLang="zh-CN" sz="2800" dirty="0">
                <a:solidFill>
                  <a:schemeClr val="tx1">
                    <a:lumMod val="75000"/>
                    <a:lumOff val="25000"/>
                  </a:schemeClr>
                </a:solidFill>
              </a:rPr>
              <a:t>Designed to easily evaluate the performances of </a:t>
            </a:r>
            <a:r>
              <a:rPr lang="en-US" altLang="zh-CN" sz="2800" b="1" dirty="0">
                <a:solidFill>
                  <a:srgbClr val="C00000"/>
                </a:solidFill>
              </a:rPr>
              <a:t>crossbred animals </a:t>
            </a:r>
            <a:r>
              <a:rPr lang="en-US" altLang="zh-CN" sz="2800" dirty="0">
                <a:solidFill>
                  <a:schemeClr val="tx1">
                    <a:lumMod val="75000"/>
                    <a:lumOff val="25000"/>
                  </a:schemeClr>
                </a:solidFill>
              </a:rPr>
              <a:t>and the economic profit of complex crossbreeding programs with built-in frameworks. </a:t>
            </a:r>
          </a:p>
          <a:p>
            <a:pPr marL="384048" lvl="1" indent="-182880" defTabSz="914400">
              <a:lnSpc>
                <a:spcPct val="120000"/>
              </a:lnSpc>
              <a:spcBef>
                <a:spcPts val="600"/>
              </a:spcBef>
              <a:spcAft>
                <a:spcPts val="600"/>
              </a:spcAft>
              <a:buClr>
                <a:schemeClr val="accent1"/>
              </a:buClr>
              <a:buFont typeface="Calibri" pitchFamily="34" charset="0"/>
              <a:buChar char="◦"/>
            </a:pPr>
            <a:r>
              <a:rPr lang="en-US" altLang="zh-CN" sz="2800" dirty="0">
                <a:solidFill>
                  <a:schemeClr val="tx1">
                    <a:lumMod val="75000"/>
                    <a:lumOff val="25000"/>
                  </a:schemeClr>
                </a:solidFill>
              </a:rPr>
              <a:t>It allows the evaluation of different crossbreeding systems and can evaluate the effectiveness of crossbreeding program with different population structures by returning the predicted value of hybrids’ phenotype and economic profit.</a:t>
            </a:r>
            <a:endParaRPr lang="zh-CN" altLang="en-US" sz="2800" dirty="0">
              <a:solidFill>
                <a:schemeClr val="tx1">
                  <a:lumMod val="75000"/>
                  <a:lumOff val="25000"/>
                </a:schemeClr>
              </a:solidFill>
            </a:endParaRPr>
          </a:p>
        </p:txBody>
      </p:sp>
    </p:spTree>
    <p:extLst>
      <p:ext uri="{BB962C8B-B14F-4D97-AF65-F5344CB8AC3E}">
        <p14:creationId xmlns:p14="http://schemas.microsoft.com/office/powerpoint/2010/main" val="2729036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294386" y="176065"/>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runWhole</a:t>
            </a:r>
            <a:r>
              <a:rPr lang="en-US" altLang="zh-CN" sz="3200" b="1" u="none" strike="noStrike" baseline="0" dirty="0">
                <a:latin typeface="+mj-lt"/>
              </a:rPr>
              <a:t>( )</a:t>
            </a:r>
            <a:endParaRPr lang="zh-CN" altLang="en-US" sz="3200" dirty="0">
              <a:latin typeface="+mj-lt"/>
            </a:endParaRPr>
          </a:p>
        </p:txBody>
      </p:sp>
      <p:cxnSp>
        <p:nvCxnSpPr>
          <p:cNvPr id="14" name="直接箭头连接符 13">
            <a:extLst>
              <a:ext uri="{FF2B5EF4-FFF2-40B4-BE49-F238E27FC236}">
                <a16:creationId xmlns:a16="http://schemas.microsoft.com/office/drawing/2014/main" id="{E54AC480-7816-DB5E-E11A-BE4B7776E1AD}"/>
              </a:ext>
            </a:extLst>
          </p:cNvPr>
          <p:cNvCxnSpPr>
            <a:cxnSpLocks/>
          </p:cNvCxnSpPr>
          <p:nvPr/>
        </p:nvCxnSpPr>
        <p:spPr>
          <a:xfrm>
            <a:off x="7461730" y="1643392"/>
            <a:ext cx="0" cy="9973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17" name="图片 16">
            <a:extLst>
              <a:ext uri="{FF2B5EF4-FFF2-40B4-BE49-F238E27FC236}">
                <a16:creationId xmlns:a16="http://schemas.microsoft.com/office/drawing/2014/main" id="{CC356B34-211B-8B39-FB22-F0EC1A7DBDD4}"/>
              </a:ext>
            </a:extLst>
          </p:cNvPr>
          <p:cNvPicPr>
            <a:picLocks noChangeAspect="1"/>
          </p:cNvPicPr>
          <p:nvPr/>
        </p:nvPicPr>
        <p:blipFill>
          <a:blip r:embed="rId2"/>
          <a:stretch>
            <a:fillRect/>
          </a:stretch>
        </p:blipFill>
        <p:spPr>
          <a:xfrm>
            <a:off x="1837189" y="1198857"/>
            <a:ext cx="3238150" cy="4560396"/>
          </a:xfrm>
          <a:prstGeom prst="rect">
            <a:avLst/>
          </a:prstGeom>
        </p:spPr>
      </p:pic>
      <p:sp>
        <p:nvSpPr>
          <p:cNvPr id="18" name="矩形 17">
            <a:extLst>
              <a:ext uri="{FF2B5EF4-FFF2-40B4-BE49-F238E27FC236}">
                <a16:creationId xmlns:a16="http://schemas.microsoft.com/office/drawing/2014/main" id="{FECB9DA3-3B46-306E-C052-20A2F492EAF8}"/>
              </a:ext>
            </a:extLst>
          </p:cNvPr>
          <p:cNvSpPr/>
          <p:nvPr/>
        </p:nvSpPr>
        <p:spPr>
          <a:xfrm>
            <a:off x="1837188" y="1030193"/>
            <a:ext cx="3380763" cy="1073789"/>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F8241256-95D4-9DAC-2FCA-10D7C4637EDB}"/>
              </a:ext>
            </a:extLst>
          </p:cNvPr>
          <p:cNvSpPr txBox="1"/>
          <p:nvPr/>
        </p:nvSpPr>
        <p:spPr>
          <a:xfrm>
            <a:off x="5880682" y="1181727"/>
            <a:ext cx="3823283" cy="461665"/>
          </a:xfrm>
          <a:prstGeom prst="rect">
            <a:avLst/>
          </a:prstGeom>
          <a:noFill/>
        </p:spPr>
        <p:txBody>
          <a:bodyPr wrap="square">
            <a:spAutoFit/>
          </a:bodyPr>
          <a:lstStyle/>
          <a:p>
            <a:r>
              <a:rPr lang="en-US" altLang="zh-CN" sz="2400" b="1" u="none" strike="noStrike" baseline="0" dirty="0">
                <a:latin typeface="+mj-lt"/>
              </a:rPr>
              <a:t>Simulation three nucleus</a:t>
            </a:r>
            <a:endParaRPr lang="zh-CN" altLang="en-US" sz="2400" dirty="0"/>
          </a:p>
        </p:txBody>
      </p:sp>
      <p:cxnSp>
        <p:nvCxnSpPr>
          <p:cNvPr id="22" name="直接箭头连接符 21">
            <a:extLst>
              <a:ext uri="{FF2B5EF4-FFF2-40B4-BE49-F238E27FC236}">
                <a16:creationId xmlns:a16="http://schemas.microsoft.com/office/drawing/2014/main" id="{579393A8-EE96-E107-6028-FEE999D61796}"/>
              </a:ext>
            </a:extLst>
          </p:cNvPr>
          <p:cNvCxnSpPr>
            <a:cxnSpLocks/>
          </p:cNvCxnSpPr>
          <p:nvPr/>
        </p:nvCxnSpPr>
        <p:spPr>
          <a:xfrm>
            <a:off x="7473095" y="3946001"/>
            <a:ext cx="0" cy="67563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5B6E375F-B105-9130-2173-C716C3A65076}"/>
              </a:ext>
            </a:extLst>
          </p:cNvPr>
          <p:cNvSpPr/>
          <p:nvPr/>
        </p:nvSpPr>
        <p:spPr>
          <a:xfrm>
            <a:off x="1837188" y="2373982"/>
            <a:ext cx="3380763" cy="3447978"/>
          </a:xfrm>
          <a:prstGeom prst="rect">
            <a:avLst/>
          </a:prstGeom>
          <a:noFill/>
          <a:ln w="28575">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D01E13E5-5A70-8983-BFA3-DF45745BF62A}"/>
              </a:ext>
            </a:extLst>
          </p:cNvPr>
          <p:cNvSpPr txBox="1"/>
          <p:nvPr/>
        </p:nvSpPr>
        <p:spPr>
          <a:xfrm>
            <a:off x="5674102" y="2680811"/>
            <a:ext cx="4236441" cy="1200329"/>
          </a:xfrm>
          <a:prstGeom prst="rect">
            <a:avLst/>
          </a:prstGeom>
          <a:noFill/>
        </p:spPr>
        <p:txBody>
          <a:bodyPr wrap="square">
            <a:spAutoFit/>
          </a:bodyPr>
          <a:lstStyle/>
          <a:p>
            <a:r>
              <a:rPr lang="en-US" altLang="zh-CN" sz="2400" b="1" u="none" strike="noStrike" baseline="0" dirty="0">
                <a:latin typeface="+mj-lt"/>
              </a:rPr>
              <a:t>Gene flow method predicts the genetic progress transmitted from three nucleus</a:t>
            </a:r>
            <a:endParaRPr lang="zh-CN" altLang="en-US" sz="2400" dirty="0"/>
          </a:p>
        </p:txBody>
      </p:sp>
      <p:sp>
        <p:nvSpPr>
          <p:cNvPr id="27" name="文本框 26">
            <a:extLst>
              <a:ext uri="{FF2B5EF4-FFF2-40B4-BE49-F238E27FC236}">
                <a16:creationId xmlns:a16="http://schemas.microsoft.com/office/drawing/2014/main" id="{05088833-7B43-5B5E-D73C-C56C86F165D1}"/>
              </a:ext>
            </a:extLst>
          </p:cNvPr>
          <p:cNvSpPr txBox="1"/>
          <p:nvPr/>
        </p:nvSpPr>
        <p:spPr>
          <a:xfrm>
            <a:off x="5674102" y="4621631"/>
            <a:ext cx="4552077" cy="1200329"/>
          </a:xfrm>
          <a:prstGeom prst="rect">
            <a:avLst/>
          </a:prstGeom>
          <a:noFill/>
        </p:spPr>
        <p:txBody>
          <a:bodyPr wrap="square">
            <a:spAutoFit/>
          </a:bodyPr>
          <a:lstStyle/>
          <a:p>
            <a:r>
              <a:rPr lang="en-US" altLang="zh-CN" sz="2400" b="1" u="none" strike="noStrike" baseline="0" dirty="0">
                <a:latin typeface="+mj-lt"/>
              </a:rPr>
              <a:t>Calculate the expected population mean of the fina</a:t>
            </a:r>
            <a:r>
              <a:rPr lang="en-US" altLang="zh-CN" sz="2400" b="1" dirty="0">
                <a:latin typeface="+mj-lt"/>
              </a:rPr>
              <a:t>l crossbreed and evaluate the economic profit</a:t>
            </a:r>
            <a:endParaRPr lang="zh-CN" altLang="en-US" sz="2400" dirty="0"/>
          </a:p>
        </p:txBody>
      </p:sp>
    </p:spTree>
    <p:extLst>
      <p:ext uri="{BB962C8B-B14F-4D97-AF65-F5344CB8AC3E}">
        <p14:creationId xmlns:p14="http://schemas.microsoft.com/office/powerpoint/2010/main" val="3496074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runWhole</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10DD6C5D-7CCF-AAAC-4FB6-9D4717D3E718}"/>
              </a:ext>
            </a:extLst>
          </p:cNvPr>
          <p:cNvSpPr txBox="1"/>
          <p:nvPr/>
        </p:nvSpPr>
        <p:spPr>
          <a:xfrm>
            <a:off x="1184944" y="1461273"/>
            <a:ext cx="9955636" cy="1938992"/>
          </a:xfrm>
          <a:prstGeom prst="rect">
            <a:avLst/>
          </a:prstGeom>
          <a:noFill/>
        </p:spPr>
        <p:txBody>
          <a:bodyPr wrap="square">
            <a:spAutoFit/>
          </a:bodyPr>
          <a:lstStyle/>
          <a:p>
            <a:pPr marL="285750" indent="-285750" algn="l">
              <a:buFont typeface="Arial" panose="020B0604020202020204" pitchFamily="34" charset="0"/>
              <a:buChar char="•"/>
            </a:pPr>
            <a:r>
              <a:rPr lang="en-US" altLang="zh-CN" sz="2400" b="0" i="0" u="none" strike="noStrike" baseline="0" dirty="0">
                <a:latin typeface="TimesNewRomanPSMT"/>
              </a:rPr>
              <a:t>Available variables for </a:t>
            </a:r>
            <a:r>
              <a:rPr lang="en-US" altLang="zh-CN" sz="2400" b="1" i="1" u="none" strike="noStrike" baseline="0" dirty="0" err="1">
                <a:latin typeface="TimesNewRomanPSMT"/>
              </a:rPr>
              <a:t>runWhole</a:t>
            </a:r>
            <a:r>
              <a:rPr lang="en-US" altLang="zh-CN" sz="2400" b="1" i="1" u="none" strike="noStrike" baseline="0" dirty="0">
                <a:latin typeface="TimesNewRomanPSMT"/>
              </a:rPr>
              <a:t>(</a:t>
            </a:r>
            <a:r>
              <a:rPr lang="en-US" altLang="zh-CN" sz="2400" b="1" i="1" u="none" strike="noStrike" baseline="0" dirty="0" err="1">
                <a:latin typeface="TimesNewRomanPSMT"/>
              </a:rPr>
              <a:t>prm_path</a:t>
            </a:r>
            <a:r>
              <a:rPr lang="en-US" altLang="zh-CN" sz="2400" b="1" i="1" u="none" strike="noStrike" baseline="0" dirty="0">
                <a:latin typeface="TimesNewRomanPSMT"/>
              </a:rPr>
              <a:t>): </a:t>
            </a:r>
            <a:r>
              <a:rPr lang="en-US" altLang="zh-CN" sz="2400" b="0" i="0" u="none" strike="noStrike" baseline="0" dirty="0" err="1">
                <a:latin typeface="TimesNewRomanPSMT"/>
              </a:rPr>
              <a:t>Asec</a:t>
            </a:r>
            <a:r>
              <a:rPr lang="en-US" altLang="zh-CN" sz="2400" b="0" i="0" u="none" strike="noStrike" baseline="0" dirty="0">
                <a:latin typeface="TimesNewRomanPSMT"/>
              </a:rPr>
              <a:t>, </a:t>
            </a:r>
            <a:r>
              <a:rPr lang="en-US" altLang="zh-CN" sz="2400" b="0" i="0" u="none" strike="noStrike" baseline="0" dirty="0" err="1">
                <a:latin typeface="TimesNewRomanPSMT"/>
              </a:rPr>
              <a:t>Bsec</a:t>
            </a:r>
            <a:r>
              <a:rPr lang="en-US" altLang="zh-CN" sz="2400" b="0" i="0" u="none" strike="noStrike" baseline="0" dirty="0">
                <a:latin typeface="TimesNewRomanPSMT"/>
              </a:rPr>
              <a:t>, </a:t>
            </a:r>
            <a:r>
              <a:rPr lang="en-US" altLang="zh-CN" sz="2400" b="0" i="0" u="none" strike="noStrike" baseline="0" dirty="0" err="1">
                <a:latin typeface="TimesNewRomanPSMT"/>
              </a:rPr>
              <a:t>Csec</a:t>
            </a:r>
            <a:r>
              <a:rPr lang="en-US" altLang="zh-CN" sz="2400" b="0" i="0" u="none" strike="noStrike" baseline="0" dirty="0">
                <a:latin typeface="TimesNewRomanPSMT"/>
              </a:rPr>
              <a:t>, </a:t>
            </a:r>
            <a:r>
              <a:rPr lang="en-US" altLang="zh-CN" sz="2400" b="0" i="0" u="none" strike="noStrike" baseline="0" dirty="0" err="1">
                <a:latin typeface="TimesNewRomanPSMT"/>
              </a:rPr>
              <a:t>Dsec</a:t>
            </a:r>
            <a:r>
              <a:rPr lang="en-US" altLang="zh-CN" sz="2400" b="0" i="0" u="none" strike="noStrike" baseline="0" dirty="0">
                <a:latin typeface="TimesNewRomanPSMT"/>
              </a:rPr>
              <a:t>, </a:t>
            </a:r>
            <a:r>
              <a:rPr lang="en-US" altLang="zh-CN" sz="2400" b="0" i="0" u="none" strike="noStrike" baseline="0" dirty="0" err="1">
                <a:latin typeface="TimesNewRomanPSMT"/>
              </a:rPr>
              <a:t>YABd</a:t>
            </a:r>
            <a:r>
              <a:rPr lang="en-US" altLang="zh-CN" sz="2400" b="0" i="0" u="none" strike="noStrike" baseline="0" dirty="0">
                <a:latin typeface="TimesNewRomanPSMT"/>
              </a:rPr>
              <a:t>, YCDs, </a:t>
            </a:r>
            <a:r>
              <a:rPr lang="en-US" altLang="zh-CN" sz="2400" b="0" i="0" u="none" strike="noStrike" baseline="0" dirty="0" err="1">
                <a:latin typeface="TimesNewRomanPSMT"/>
              </a:rPr>
              <a:t>SorAB</a:t>
            </a:r>
            <a:r>
              <a:rPr lang="en-US" altLang="zh-CN" sz="2400" b="0" i="0" u="none" strike="noStrike" baseline="0" dirty="0">
                <a:latin typeface="TimesNewRomanPSMT"/>
              </a:rPr>
              <a:t>, </a:t>
            </a:r>
            <a:r>
              <a:rPr lang="en-US" altLang="zh-CN" sz="2400" b="0" i="0" u="none" strike="noStrike" baseline="0" dirty="0" err="1">
                <a:latin typeface="TimesNewRomanPSMT"/>
              </a:rPr>
              <a:t>SorCD</a:t>
            </a:r>
            <a:r>
              <a:rPr lang="en-US" altLang="zh-CN" sz="2400" b="0" i="0" u="none" strike="noStrike" baseline="0" dirty="0">
                <a:latin typeface="TimesNewRomanPSMT"/>
              </a:rPr>
              <a:t>, </a:t>
            </a:r>
            <a:r>
              <a:rPr lang="en-US" altLang="zh-CN" sz="2400" b="0" i="0" u="none" strike="noStrike" baseline="0" dirty="0" err="1">
                <a:latin typeface="TimesNewRomanPSMT"/>
              </a:rPr>
              <a:t>SorP</a:t>
            </a:r>
            <a:endParaRPr lang="en-US" altLang="zh-CN" sz="2400" b="0" i="0" u="none" strike="noStrike" baseline="0" dirty="0">
              <a:latin typeface="TimesNewRomanPSMT"/>
            </a:endParaRPr>
          </a:p>
          <a:p>
            <a:pPr marL="285750" indent="-285750" algn="l">
              <a:buFont typeface="Arial" panose="020B0604020202020204" pitchFamily="34" charset="0"/>
              <a:buChar char="•"/>
            </a:pPr>
            <a:endParaRPr lang="en-US" altLang="zh-CN" sz="2400" b="1" dirty="0">
              <a:latin typeface="TimesNewRomanPS-BoldMT"/>
            </a:endParaRPr>
          </a:p>
          <a:p>
            <a:pPr marL="285750" indent="-285750" algn="l">
              <a:buFont typeface="Arial" panose="020B0604020202020204" pitchFamily="34" charset="0"/>
              <a:buChar char="•"/>
            </a:pPr>
            <a:r>
              <a:rPr lang="en-US" altLang="zh-CN" sz="2400" b="1" dirty="0">
                <a:latin typeface="TimesNewRomanPS-BoldMT"/>
              </a:rPr>
              <a:t>Setting variables in following parts in the parameter file.</a:t>
            </a:r>
          </a:p>
          <a:p>
            <a:r>
              <a:rPr lang="en-US" altLang="zh-CN" sz="2400" b="1" dirty="0">
                <a:latin typeface="TimesNewRomanPS-BoldMT"/>
              </a:rPr>
              <a:t> example:</a:t>
            </a:r>
            <a:endParaRPr lang="en-US" altLang="zh-CN" sz="2400" b="1" i="0" u="none" strike="noStrike" baseline="0" dirty="0">
              <a:latin typeface="TimesNewRomanPS-BoldMT"/>
            </a:endParaRPr>
          </a:p>
        </p:txBody>
      </p:sp>
      <p:sp>
        <p:nvSpPr>
          <p:cNvPr id="4" name="文本框 3">
            <a:extLst>
              <a:ext uri="{FF2B5EF4-FFF2-40B4-BE49-F238E27FC236}">
                <a16:creationId xmlns:a16="http://schemas.microsoft.com/office/drawing/2014/main" id="{1668ACA0-9C8D-25BB-EE52-B3F43DD87BA9}"/>
              </a:ext>
            </a:extLst>
          </p:cNvPr>
          <p:cNvSpPr txBox="1"/>
          <p:nvPr/>
        </p:nvSpPr>
        <p:spPr>
          <a:xfrm>
            <a:off x="4055378" y="416567"/>
            <a:ext cx="6094602" cy="523220"/>
          </a:xfrm>
          <a:prstGeom prst="rect">
            <a:avLst/>
          </a:prstGeom>
          <a:noFill/>
        </p:spPr>
        <p:txBody>
          <a:bodyPr wrap="square">
            <a:spAutoFit/>
          </a:bodyPr>
          <a:lstStyle/>
          <a:p>
            <a:pPr algn="l"/>
            <a:r>
              <a:rPr lang="en-US" altLang="zh-CN" sz="2800" b="1" i="0" u="none" strike="noStrike" baseline="0" dirty="0">
                <a:solidFill>
                  <a:srgbClr val="0070C0"/>
                </a:solidFill>
                <a:latin typeface="TimesNewRomanPS-BoldMT"/>
              </a:rPr>
              <a:t>How to set variables?</a:t>
            </a:r>
            <a:endParaRPr lang="zh-CN" altLang="en-US" sz="2800" dirty="0">
              <a:solidFill>
                <a:srgbClr val="0070C0"/>
              </a:solidFill>
            </a:endParaRPr>
          </a:p>
        </p:txBody>
      </p:sp>
      <p:sp>
        <p:nvSpPr>
          <p:cNvPr id="7" name="文本框 6">
            <a:extLst>
              <a:ext uri="{FF2B5EF4-FFF2-40B4-BE49-F238E27FC236}">
                <a16:creationId xmlns:a16="http://schemas.microsoft.com/office/drawing/2014/main" id="{2574F1EF-099D-C000-2DA8-22DA117F0924}"/>
              </a:ext>
            </a:extLst>
          </p:cNvPr>
          <p:cNvSpPr txBox="1"/>
          <p:nvPr/>
        </p:nvSpPr>
        <p:spPr>
          <a:xfrm>
            <a:off x="1486949" y="3967647"/>
            <a:ext cx="3756170" cy="830997"/>
          </a:xfrm>
          <a:prstGeom prst="rect">
            <a:avLst/>
          </a:prstGeom>
          <a:solidFill>
            <a:schemeClr val="bg2"/>
          </a:solidFill>
        </p:spPr>
        <p:txBody>
          <a:bodyPr wrap="square">
            <a:spAutoFit/>
          </a:bodyPr>
          <a:lstStyle/>
          <a:p>
            <a:pPr algn="l"/>
            <a:r>
              <a:rPr lang="en-US" altLang="zh-CN" sz="2400" b="1" i="0" u="none" strike="noStrike" baseline="0" dirty="0">
                <a:latin typeface="TimesNewRomanPS-BoldMT"/>
              </a:rPr>
              <a:t>### VARIABLES ###</a:t>
            </a:r>
          </a:p>
          <a:p>
            <a:pPr algn="l"/>
            <a:r>
              <a:rPr lang="en-US" altLang="zh-CN" sz="2400" b="1" dirty="0" err="1">
                <a:latin typeface="TimesNewRomanPS-BoldMT"/>
              </a:rPr>
              <a:t>Asec</a:t>
            </a:r>
            <a:r>
              <a:rPr lang="en-US" altLang="zh-CN" sz="2400" b="1" dirty="0">
                <a:latin typeface="TimesNewRomanPS-BoldMT"/>
              </a:rPr>
              <a:t> 2 4 6</a:t>
            </a:r>
            <a:endParaRPr lang="en-US" altLang="zh-CN" sz="2400" b="1" i="0" u="none" strike="noStrike" baseline="0" dirty="0">
              <a:latin typeface="TimesNewRomanPS-BoldMT"/>
            </a:endParaRPr>
          </a:p>
        </p:txBody>
      </p:sp>
      <p:sp>
        <p:nvSpPr>
          <p:cNvPr id="9" name="文本框 8">
            <a:extLst>
              <a:ext uri="{FF2B5EF4-FFF2-40B4-BE49-F238E27FC236}">
                <a16:creationId xmlns:a16="http://schemas.microsoft.com/office/drawing/2014/main" id="{F6817201-7C24-A970-F450-CBBB794AF512}"/>
              </a:ext>
            </a:extLst>
          </p:cNvPr>
          <p:cNvSpPr txBox="1"/>
          <p:nvPr/>
        </p:nvSpPr>
        <p:spPr>
          <a:xfrm>
            <a:off x="958441" y="5514172"/>
            <a:ext cx="10526088" cy="400110"/>
          </a:xfrm>
          <a:prstGeom prst="rect">
            <a:avLst/>
          </a:prstGeom>
          <a:solidFill>
            <a:srgbClr val="FFFFCC"/>
          </a:solidFill>
        </p:spPr>
        <p:txBody>
          <a:bodyPr wrap="square">
            <a:spAutoFit/>
          </a:bodyPr>
          <a:lstStyle/>
          <a:p>
            <a:pPr algn="l"/>
            <a:r>
              <a:rPr lang="en-US" altLang="zh-CN" sz="2000" b="0" i="0" u="none" strike="noStrike" baseline="0" dirty="0">
                <a:latin typeface="TimesNewRomanPSMT"/>
              </a:rPr>
              <a:t>Note: Other parameters can also be modified, but you need to run them separately to compare them.</a:t>
            </a:r>
            <a:endParaRPr lang="zh-CN" altLang="en-US" sz="2000" dirty="0"/>
          </a:p>
        </p:txBody>
      </p:sp>
    </p:spTree>
    <p:extLst>
      <p:ext uri="{BB962C8B-B14F-4D97-AF65-F5344CB8AC3E}">
        <p14:creationId xmlns:p14="http://schemas.microsoft.com/office/powerpoint/2010/main" val="214099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runWhole</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B0C9506D-3A84-35E4-CACF-8A754733F0A4}"/>
              </a:ext>
            </a:extLst>
          </p:cNvPr>
          <p:cNvSpPr txBox="1"/>
          <p:nvPr/>
        </p:nvSpPr>
        <p:spPr>
          <a:xfrm>
            <a:off x="958442" y="1446911"/>
            <a:ext cx="11046204" cy="1815882"/>
          </a:xfrm>
          <a:prstGeom prst="rect">
            <a:avLst/>
          </a:prstGeom>
          <a:noFill/>
        </p:spPr>
        <p:txBody>
          <a:bodyPr wrap="square">
            <a:spAutoFit/>
          </a:bodyPr>
          <a:lstStyle/>
          <a:p>
            <a:r>
              <a:rPr lang="en-US" altLang="zh-CN" sz="2800" b="1" dirty="0">
                <a:solidFill>
                  <a:srgbClr val="1F2328"/>
                </a:solidFill>
                <a:latin typeface="-apple-system"/>
              </a:rPr>
              <a:t>Demo 2:</a:t>
            </a:r>
          </a:p>
          <a:p>
            <a:r>
              <a:rPr lang="en-US" altLang="zh-CN" sz="2800" dirty="0">
                <a:solidFill>
                  <a:srgbClr val="1F2328"/>
                </a:solidFill>
                <a:latin typeface="-apple-system"/>
              </a:rPr>
              <a:t>Estimating the results of three-way crossbreeding system breeding programs with different "</a:t>
            </a:r>
            <a:r>
              <a:rPr lang="en-US" altLang="zh-CN" sz="2800" dirty="0" err="1">
                <a:solidFill>
                  <a:srgbClr val="1F2328"/>
                </a:solidFill>
                <a:latin typeface="-apple-system"/>
              </a:rPr>
              <a:t>SorP</a:t>
            </a:r>
            <a:r>
              <a:rPr lang="en-US" altLang="zh-CN" sz="2800" dirty="0">
                <a:solidFill>
                  <a:srgbClr val="1F2328"/>
                </a:solidFill>
                <a:latin typeface="-apple-system"/>
              </a:rPr>
              <a:t>" (this variable means the male: female ratio of terminal cross).</a:t>
            </a:r>
            <a:endParaRPr lang="zh-CN" altLang="en-US" sz="2800" dirty="0"/>
          </a:p>
        </p:txBody>
      </p:sp>
      <p:sp>
        <p:nvSpPr>
          <p:cNvPr id="8" name="文本框 7">
            <a:extLst>
              <a:ext uri="{FF2B5EF4-FFF2-40B4-BE49-F238E27FC236}">
                <a16:creationId xmlns:a16="http://schemas.microsoft.com/office/drawing/2014/main" id="{20B254DB-6247-8480-D19D-887EA381E5B3}"/>
              </a:ext>
            </a:extLst>
          </p:cNvPr>
          <p:cNvSpPr txBox="1"/>
          <p:nvPr/>
        </p:nvSpPr>
        <p:spPr>
          <a:xfrm>
            <a:off x="958442" y="3572182"/>
            <a:ext cx="6094602" cy="830997"/>
          </a:xfrm>
          <a:prstGeom prst="rect">
            <a:avLst/>
          </a:prstGeom>
          <a:solidFill>
            <a:schemeClr val="bg2"/>
          </a:solidFill>
        </p:spPr>
        <p:txBody>
          <a:bodyPr wrap="square">
            <a:spAutoFit/>
          </a:bodyPr>
          <a:lstStyle/>
          <a:p>
            <a:pPr algn="l"/>
            <a:r>
              <a:rPr lang="en-US" altLang="zh-CN" sz="2400" b="0" i="0" dirty="0" err="1">
                <a:solidFill>
                  <a:srgbClr val="1F2328"/>
                </a:solidFill>
                <a:effectLst/>
                <a:latin typeface="-apple-system"/>
              </a:rPr>
              <a:t>setwd</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example_prm</a:t>
            </a:r>
            <a:r>
              <a:rPr lang="en-US" altLang="zh-CN" sz="2400" b="0" i="0" dirty="0">
                <a:solidFill>
                  <a:srgbClr val="1F2328"/>
                </a:solidFill>
                <a:effectLst/>
                <a:latin typeface="-apple-system"/>
              </a:rPr>
              <a:t>")</a:t>
            </a:r>
          </a:p>
          <a:p>
            <a:pPr algn="l"/>
            <a:r>
              <a:rPr lang="en-US" altLang="zh-CN" sz="2400" b="0" i="0" dirty="0" err="1">
                <a:solidFill>
                  <a:srgbClr val="1F2328"/>
                </a:solidFill>
                <a:effectLst/>
                <a:latin typeface="-apple-system"/>
              </a:rPr>
              <a:t>runWhole</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prm_path</a:t>
            </a:r>
            <a:r>
              <a:rPr lang="en-US" altLang="zh-CN" sz="2400" b="0" i="0" dirty="0">
                <a:solidFill>
                  <a:srgbClr val="1F2328"/>
                </a:solidFill>
                <a:effectLst/>
                <a:latin typeface="-apple-system"/>
              </a:rPr>
              <a:t> = "prm_Whole.txt")</a:t>
            </a:r>
          </a:p>
        </p:txBody>
      </p:sp>
    </p:spTree>
    <p:extLst>
      <p:ext uri="{BB962C8B-B14F-4D97-AF65-F5344CB8AC3E}">
        <p14:creationId xmlns:p14="http://schemas.microsoft.com/office/powerpoint/2010/main" val="1995106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E386C09-75C5-115B-2B83-B289F251B6DB}"/>
              </a:ext>
            </a:extLst>
          </p:cNvPr>
          <p:cNvPicPr>
            <a:picLocks noChangeAspect="1"/>
          </p:cNvPicPr>
          <p:nvPr/>
        </p:nvPicPr>
        <p:blipFill>
          <a:blip r:embed="rId2"/>
          <a:stretch>
            <a:fillRect/>
          </a:stretch>
        </p:blipFill>
        <p:spPr>
          <a:xfrm>
            <a:off x="3802700" y="2460489"/>
            <a:ext cx="5339933" cy="1584998"/>
          </a:xfrm>
          <a:prstGeom prst="rect">
            <a:avLst/>
          </a:prstGeom>
        </p:spPr>
      </p:pic>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runWhole</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E76198C2-6D95-8CC0-B8F2-1FB867CAE5F7}"/>
              </a:ext>
            </a:extLst>
          </p:cNvPr>
          <p:cNvSpPr txBox="1"/>
          <p:nvPr/>
        </p:nvSpPr>
        <p:spPr>
          <a:xfrm>
            <a:off x="817598" y="1430181"/>
            <a:ext cx="2143716" cy="523220"/>
          </a:xfrm>
          <a:prstGeom prst="rect">
            <a:avLst/>
          </a:prstGeom>
          <a:noFill/>
        </p:spPr>
        <p:txBody>
          <a:bodyPr wrap="square">
            <a:spAutoFit/>
          </a:bodyPr>
          <a:lstStyle/>
          <a:p>
            <a:r>
              <a:rPr lang="en-US" altLang="zh-CN" sz="2800" b="1" dirty="0">
                <a:solidFill>
                  <a:srgbClr val="1F2328"/>
                </a:solidFill>
                <a:latin typeface="-apple-system"/>
              </a:rPr>
              <a:t>Results:</a:t>
            </a:r>
            <a:endParaRPr lang="zh-CN" altLang="en-US" sz="2800" dirty="0"/>
          </a:p>
        </p:txBody>
      </p:sp>
      <p:sp>
        <p:nvSpPr>
          <p:cNvPr id="8" name="文本框 7">
            <a:extLst>
              <a:ext uri="{FF2B5EF4-FFF2-40B4-BE49-F238E27FC236}">
                <a16:creationId xmlns:a16="http://schemas.microsoft.com/office/drawing/2014/main" id="{98EC202F-2C9E-DA9D-E2F0-71DD5357C953}"/>
              </a:ext>
            </a:extLst>
          </p:cNvPr>
          <p:cNvSpPr txBox="1"/>
          <p:nvPr/>
        </p:nvSpPr>
        <p:spPr>
          <a:xfrm>
            <a:off x="817598" y="2260153"/>
            <a:ext cx="6094602" cy="461665"/>
          </a:xfrm>
          <a:prstGeom prst="rect">
            <a:avLst/>
          </a:prstGeom>
          <a:noFill/>
        </p:spPr>
        <p:txBody>
          <a:bodyPr wrap="square">
            <a:spAutoFit/>
          </a:bodyPr>
          <a:lstStyle/>
          <a:p>
            <a:r>
              <a:rPr lang="en-US" altLang="zh-CN" sz="2400" b="1" i="0" u="none" strike="noStrike" baseline="0" dirty="0">
                <a:latin typeface="TimesNewRomanPS-BoldMT"/>
              </a:rPr>
              <a:t>wholeOut.xlsx:</a:t>
            </a:r>
            <a:endParaRPr lang="zh-CN" altLang="en-US" sz="2400" dirty="0"/>
          </a:p>
        </p:txBody>
      </p:sp>
      <p:sp>
        <p:nvSpPr>
          <p:cNvPr id="9" name="矩形 8">
            <a:extLst>
              <a:ext uri="{FF2B5EF4-FFF2-40B4-BE49-F238E27FC236}">
                <a16:creationId xmlns:a16="http://schemas.microsoft.com/office/drawing/2014/main" id="{167E79A9-4CA2-7FF2-B60D-E5C4DC2F1D9F}"/>
              </a:ext>
            </a:extLst>
          </p:cNvPr>
          <p:cNvSpPr/>
          <p:nvPr/>
        </p:nvSpPr>
        <p:spPr>
          <a:xfrm>
            <a:off x="3921867" y="2632926"/>
            <a:ext cx="1608243" cy="1361333"/>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8F4C3EC-9E1E-B8C4-4C37-5CE9EC46E469}"/>
              </a:ext>
            </a:extLst>
          </p:cNvPr>
          <p:cNvSpPr txBox="1"/>
          <p:nvPr/>
        </p:nvSpPr>
        <p:spPr>
          <a:xfrm>
            <a:off x="1606164" y="4274868"/>
            <a:ext cx="4966020" cy="461665"/>
          </a:xfrm>
          <a:prstGeom prst="rect">
            <a:avLst/>
          </a:prstGeom>
          <a:noFill/>
        </p:spPr>
        <p:txBody>
          <a:bodyPr wrap="square">
            <a:spAutoFit/>
          </a:bodyPr>
          <a:lstStyle/>
          <a:p>
            <a:r>
              <a:rPr lang="en-US" altLang="zh-CN" sz="2400" b="0" i="0" u="none" strike="noStrike" baseline="0" dirty="0">
                <a:solidFill>
                  <a:srgbClr val="0070C0"/>
                </a:solidFill>
                <a:latin typeface="TimesNewRomanPSMT"/>
              </a:rPr>
              <a:t>Predicted population phenotype mean</a:t>
            </a:r>
            <a:endParaRPr lang="zh-CN" altLang="en-US" sz="2400" dirty="0">
              <a:solidFill>
                <a:srgbClr val="0070C0"/>
              </a:solidFill>
            </a:endParaRPr>
          </a:p>
        </p:txBody>
      </p:sp>
      <p:sp>
        <p:nvSpPr>
          <p:cNvPr id="12" name="矩形 11">
            <a:extLst>
              <a:ext uri="{FF2B5EF4-FFF2-40B4-BE49-F238E27FC236}">
                <a16:creationId xmlns:a16="http://schemas.microsoft.com/office/drawing/2014/main" id="{A3B586A2-5C4E-0731-0B3B-88490B0009A2}"/>
              </a:ext>
            </a:extLst>
          </p:cNvPr>
          <p:cNvSpPr/>
          <p:nvPr/>
        </p:nvSpPr>
        <p:spPr>
          <a:xfrm>
            <a:off x="7176455" y="2564715"/>
            <a:ext cx="1658919" cy="1361333"/>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45967201-C64A-7953-A0CA-4841845268D6}"/>
              </a:ext>
            </a:extLst>
          </p:cNvPr>
          <p:cNvSpPr/>
          <p:nvPr/>
        </p:nvSpPr>
        <p:spPr>
          <a:xfrm>
            <a:off x="5568212" y="2472210"/>
            <a:ext cx="1608243" cy="1361333"/>
          </a:xfrm>
          <a:prstGeom prst="rect">
            <a:avLst/>
          </a:prstGeom>
          <a:noFill/>
          <a:ln>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B33AA39C-DB63-2C54-263D-9F8C5A341FA4}"/>
              </a:ext>
            </a:extLst>
          </p:cNvPr>
          <p:cNvSpPr txBox="1"/>
          <p:nvPr/>
        </p:nvSpPr>
        <p:spPr>
          <a:xfrm>
            <a:off x="5504422" y="1570517"/>
            <a:ext cx="2667699" cy="461665"/>
          </a:xfrm>
          <a:prstGeom prst="rect">
            <a:avLst/>
          </a:prstGeom>
          <a:noFill/>
        </p:spPr>
        <p:txBody>
          <a:bodyPr wrap="square">
            <a:spAutoFit/>
          </a:bodyPr>
          <a:lstStyle/>
          <a:p>
            <a:r>
              <a:rPr lang="en-US" altLang="zh-CN" sz="2400" b="0" i="0" u="none" strike="noStrike" baseline="0" dirty="0">
                <a:solidFill>
                  <a:srgbClr val="0070C0"/>
                </a:solidFill>
                <a:latin typeface="TimesNewRomanPSMT"/>
              </a:rPr>
              <a:t>Economic profit</a:t>
            </a:r>
            <a:endParaRPr lang="zh-CN" altLang="en-US" sz="2400" dirty="0">
              <a:solidFill>
                <a:srgbClr val="0070C0"/>
              </a:solidFill>
            </a:endParaRPr>
          </a:p>
        </p:txBody>
      </p:sp>
      <p:sp>
        <p:nvSpPr>
          <p:cNvPr id="21" name="文本框 20">
            <a:extLst>
              <a:ext uri="{FF2B5EF4-FFF2-40B4-BE49-F238E27FC236}">
                <a16:creationId xmlns:a16="http://schemas.microsoft.com/office/drawing/2014/main" id="{3396CAC3-3D9D-A1BA-FC72-E753D6D8A50D}"/>
              </a:ext>
            </a:extLst>
          </p:cNvPr>
          <p:cNvSpPr txBox="1"/>
          <p:nvPr/>
        </p:nvSpPr>
        <p:spPr>
          <a:xfrm>
            <a:off x="6912200" y="4272297"/>
            <a:ext cx="3223468" cy="461665"/>
          </a:xfrm>
          <a:prstGeom prst="rect">
            <a:avLst/>
          </a:prstGeom>
          <a:noFill/>
        </p:spPr>
        <p:txBody>
          <a:bodyPr wrap="square">
            <a:spAutoFit/>
          </a:bodyPr>
          <a:lstStyle/>
          <a:p>
            <a:r>
              <a:rPr lang="en-US" altLang="zh-CN" sz="2400" b="0" i="0" u="none" strike="noStrike" baseline="0" dirty="0">
                <a:solidFill>
                  <a:srgbClr val="0070C0"/>
                </a:solidFill>
                <a:latin typeface="TimesNewRomanPSMT"/>
              </a:rPr>
              <a:t>The name of variation</a:t>
            </a:r>
            <a:endParaRPr lang="zh-CN" altLang="en-US" sz="2400" dirty="0">
              <a:solidFill>
                <a:srgbClr val="0070C0"/>
              </a:solidFill>
            </a:endParaRPr>
          </a:p>
        </p:txBody>
      </p:sp>
      <p:cxnSp>
        <p:nvCxnSpPr>
          <p:cNvPr id="25" name="直接箭头连接符 24">
            <a:extLst>
              <a:ext uri="{FF2B5EF4-FFF2-40B4-BE49-F238E27FC236}">
                <a16:creationId xmlns:a16="http://schemas.microsoft.com/office/drawing/2014/main" id="{0B729541-FA8A-CF48-9AD9-D33663D890C2}"/>
              </a:ext>
            </a:extLst>
          </p:cNvPr>
          <p:cNvCxnSpPr>
            <a:cxnSpLocks/>
            <a:stCxn id="9" idx="2"/>
            <a:endCxn id="11" idx="0"/>
          </p:cNvCxnSpPr>
          <p:nvPr/>
        </p:nvCxnSpPr>
        <p:spPr>
          <a:xfrm flipH="1">
            <a:off x="4089174" y="3994259"/>
            <a:ext cx="636815" cy="28060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BCBB2023-E517-2EB8-1523-6A69F7B082CF}"/>
              </a:ext>
            </a:extLst>
          </p:cNvPr>
          <p:cNvCxnSpPr/>
          <p:nvPr/>
        </p:nvCxnSpPr>
        <p:spPr>
          <a:xfrm>
            <a:off x="8172121" y="4092920"/>
            <a:ext cx="147856" cy="3081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C7981BAD-2A89-3232-041B-710089F84A01}"/>
              </a:ext>
            </a:extLst>
          </p:cNvPr>
          <p:cNvCxnSpPr>
            <a:cxnSpLocks/>
          </p:cNvCxnSpPr>
          <p:nvPr/>
        </p:nvCxnSpPr>
        <p:spPr>
          <a:xfrm flipV="1">
            <a:off x="6311008" y="2032495"/>
            <a:ext cx="89810" cy="2521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7419531F-D626-4790-52B2-71FF4705B261}"/>
              </a:ext>
            </a:extLst>
          </p:cNvPr>
          <p:cNvSpPr txBox="1"/>
          <p:nvPr/>
        </p:nvSpPr>
        <p:spPr>
          <a:xfrm>
            <a:off x="817270" y="4904600"/>
            <a:ext cx="10234179" cy="1323439"/>
          </a:xfrm>
          <a:prstGeom prst="rect">
            <a:avLst/>
          </a:prstGeom>
          <a:noFill/>
        </p:spPr>
        <p:txBody>
          <a:bodyPr wrap="square">
            <a:spAutoFit/>
          </a:bodyPr>
          <a:lstStyle/>
          <a:p>
            <a:pPr marL="342900" indent="-342900">
              <a:buFont typeface="Arial" panose="020B0604020202020204" pitchFamily="34" charset="0"/>
              <a:buChar char="•"/>
            </a:pPr>
            <a:r>
              <a:rPr lang="en-US" altLang="zh-CN" sz="2000" dirty="0"/>
              <a:t>*out.xlsx contains information about different subpopulations’ phenotype in each breeding season.</a:t>
            </a:r>
          </a:p>
          <a:p>
            <a:pPr marL="342900" indent="-342900">
              <a:buFont typeface="Arial" panose="020B0604020202020204" pitchFamily="34" charset="0"/>
              <a:buChar char="•"/>
            </a:pPr>
            <a:r>
              <a:rPr lang="en-US" altLang="zh-CN" sz="2000" dirty="0"/>
              <a:t>detailInfo.txt is the same as described before.</a:t>
            </a:r>
          </a:p>
          <a:p>
            <a:pPr marL="342900" indent="-342900">
              <a:buFont typeface="Arial" panose="020B0604020202020204" pitchFamily="34" charset="0"/>
              <a:buChar char="•"/>
            </a:pPr>
            <a:r>
              <a:rPr lang="en-US" altLang="zh-CN" sz="2000" dirty="0"/>
              <a:t>p.csv is the P matrix used in gene flow method.</a:t>
            </a:r>
            <a:endParaRPr lang="zh-CN" altLang="en-US" sz="2000" dirty="0"/>
          </a:p>
        </p:txBody>
      </p:sp>
    </p:spTree>
    <p:extLst>
      <p:ext uri="{BB962C8B-B14F-4D97-AF65-F5344CB8AC3E}">
        <p14:creationId xmlns:p14="http://schemas.microsoft.com/office/powerpoint/2010/main" val="1356416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runOpt</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04449C96-8490-DD4C-5D0C-BCE606BD3BA1}"/>
              </a:ext>
            </a:extLst>
          </p:cNvPr>
          <p:cNvSpPr txBox="1"/>
          <p:nvPr/>
        </p:nvSpPr>
        <p:spPr>
          <a:xfrm>
            <a:off x="773185" y="1693982"/>
            <a:ext cx="10645629" cy="3027880"/>
          </a:xfrm>
          <a:prstGeom prst="rect">
            <a:avLst/>
          </a:prstGeom>
          <a:noFill/>
        </p:spPr>
        <p:txBody>
          <a:bodyPr wrap="square">
            <a:spAutoFit/>
          </a:bodyPr>
          <a:lstStyle/>
          <a:p>
            <a:pPr marL="384048" lvl="1" indent="-182880" defTabSz="914400">
              <a:lnSpc>
                <a:spcPct val="120000"/>
              </a:lnSpc>
              <a:spcBef>
                <a:spcPts val="1200"/>
              </a:spcBef>
              <a:spcAft>
                <a:spcPts val="1800"/>
              </a:spcAft>
              <a:buClr>
                <a:schemeClr val="accent1"/>
              </a:buClr>
              <a:buFont typeface="Calibri" pitchFamily="34" charset="0"/>
              <a:buChar char="◦"/>
            </a:pPr>
            <a:r>
              <a:rPr lang="en-US" altLang="zh-CN" sz="2800" dirty="0">
                <a:solidFill>
                  <a:schemeClr val="tx1">
                    <a:lumMod val="75000"/>
                    <a:lumOff val="25000"/>
                  </a:schemeClr>
                </a:solidFill>
              </a:rPr>
              <a:t>Used to search for an optimal combination of parameter values which maximizes the economic profits of crossbreeding programs. </a:t>
            </a:r>
          </a:p>
          <a:p>
            <a:pPr marL="384048" lvl="1" indent="-182880" defTabSz="914400">
              <a:lnSpc>
                <a:spcPct val="120000"/>
              </a:lnSpc>
              <a:spcBef>
                <a:spcPts val="1200"/>
              </a:spcBef>
              <a:spcAft>
                <a:spcPts val="1800"/>
              </a:spcAft>
              <a:buClr>
                <a:schemeClr val="accent1"/>
              </a:buClr>
              <a:buFont typeface="Calibri" pitchFamily="34" charset="0"/>
              <a:buChar char="◦"/>
            </a:pPr>
            <a:r>
              <a:rPr lang="en-US" altLang="zh-CN" sz="2800" dirty="0">
                <a:solidFill>
                  <a:schemeClr val="tx1">
                    <a:lumMod val="75000"/>
                    <a:lumOff val="25000"/>
                  </a:schemeClr>
                </a:solidFill>
              </a:rPr>
              <a:t>By defining some uncertain parameters and giving reasonable variation ranges, it uses the Bayesian Optimization method to draw up a superior solution under fixed iteration times.</a:t>
            </a:r>
            <a:endParaRPr lang="zh-CN" altLang="en-US" sz="2800" dirty="0">
              <a:solidFill>
                <a:schemeClr val="tx1">
                  <a:lumMod val="75000"/>
                  <a:lumOff val="25000"/>
                </a:schemeClr>
              </a:solidFill>
            </a:endParaRPr>
          </a:p>
        </p:txBody>
      </p:sp>
    </p:spTree>
    <p:extLst>
      <p:ext uri="{BB962C8B-B14F-4D97-AF65-F5344CB8AC3E}">
        <p14:creationId xmlns:p14="http://schemas.microsoft.com/office/powerpoint/2010/main" val="412899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runOpt</a:t>
            </a:r>
            <a:r>
              <a:rPr lang="en-US" altLang="zh-CN" sz="3200" b="1" u="none" strike="noStrike" baseline="0" dirty="0">
                <a:latin typeface="+mj-lt"/>
              </a:rPr>
              <a:t>( )</a:t>
            </a:r>
            <a:endParaRPr lang="zh-CN" altLang="en-US" sz="3200" dirty="0">
              <a:latin typeface="+mj-lt"/>
            </a:endParaRPr>
          </a:p>
        </p:txBody>
      </p:sp>
      <p:sp>
        <p:nvSpPr>
          <p:cNvPr id="3" name="文本框 2">
            <a:extLst>
              <a:ext uri="{FF2B5EF4-FFF2-40B4-BE49-F238E27FC236}">
                <a16:creationId xmlns:a16="http://schemas.microsoft.com/office/drawing/2014/main" id="{10DD6C5D-7CCF-AAAC-4FB6-9D4717D3E718}"/>
              </a:ext>
            </a:extLst>
          </p:cNvPr>
          <p:cNvSpPr txBox="1"/>
          <p:nvPr/>
        </p:nvSpPr>
        <p:spPr>
          <a:xfrm>
            <a:off x="676448" y="1144503"/>
            <a:ext cx="9892631" cy="1200329"/>
          </a:xfrm>
          <a:prstGeom prst="rect">
            <a:avLst/>
          </a:prstGeom>
          <a:noFill/>
        </p:spPr>
        <p:txBody>
          <a:bodyPr wrap="square">
            <a:spAutoFit/>
          </a:bodyPr>
          <a:lstStyle/>
          <a:p>
            <a:pPr marL="285750" indent="-285750" algn="l">
              <a:buFont typeface="Arial" panose="020B0604020202020204" pitchFamily="34" charset="0"/>
              <a:buChar char="•"/>
            </a:pPr>
            <a:r>
              <a:rPr lang="en-US" altLang="zh-CN" sz="2400" b="1" i="0" u="none" strike="noStrike" baseline="0" dirty="0">
                <a:latin typeface="TimesNewRomanPS-BoldMT"/>
              </a:rPr>
              <a:t>“Optimize Parameters”</a:t>
            </a:r>
            <a:r>
              <a:rPr lang="en-US" altLang="zh-CN" sz="2400" b="0" i="0" u="none" strike="noStrike" baseline="0" dirty="0">
                <a:latin typeface="TimesNewRomanPSMT"/>
              </a:rPr>
              <a:t> is used to modify each optimize parameter's range. If you don’t need some parameters, just delete the row of it. When use </a:t>
            </a:r>
            <a:r>
              <a:rPr lang="en-US" altLang="zh-CN" sz="2400" b="0" i="0" u="none" strike="noStrike" baseline="0" dirty="0" err="1">
                <a:latin typeface="TimesNewRomanPSMT"/>
              </a:rPr>
              <a:t>runCore</a:t>
            </a:r>
            <a:r>
              <a:rPr lang="en-US" altLang="zh-CN" sz="2400" b="0" i="0" u="none" strike="noStrike" baseline="0" dirty="0">
                <a:latin typeface="TimesNewRomanPSMT"/>
              </a:rPr>
              <a:t>(</a:t>
            </a:r>
            <a:r>
              <a:rPr lang="en-US" altLang="zh-CN" sz="2400" b="0" i="0" u="none" strike="noStrike" baseline="0" dirty="0" err="1">
                <a:latin typeface="TimesNewRomanPSMT"/>
              </a:rPr>
              <a:t>prm_path</a:t>
            </a:r>
            <a:r>
              <a:rPr lang="en-US" altLang="zh-CN" sz="2400" b="0" i="0" u="none" strike="noStrike" baseline="0" dirty="0">
                <a:latin typeface="TimesNewRomanPSMT"/>
              </a:rPr>
              <a:t>), </a:t>
            </a:r>
            <a:r>
              <a:rPr lang="en-US" altLang="zh-CN" sz="2400" b="0" i="0" u="none" strike="noStrike" baseline="0" dirty="0" err="1">
                <a:latin typeface="TimesNewRomanPSMT"/>
              </a:rPr>
              <a:t>runWhole</a:t>
            </a:r>
            <a:r>
              <a:rPr lang="en-US" altLang="zh-CN" sz="2400" b="0" i="0" u="none" strike="noStrike" baseline="0" dirty="0">
                <a:latin typeface="TimesNewRomanPSMT"/>
              </a:rPr>
              <a:t>(</a:t>
            </a:r>
            <a:r>
              <a:rPr lang="en-US" altLang="zh-CN" sz="2400" b="0" i="0" u="none" strike="noStrike" baseline="0" dirty="0" err="1">
                <a:latin typeface="TimesNewRomanPSMT"/>
              </a:rPr>
              <a:t>prm_path</a:t>
            </a:r>
            <a:r>
              <a:rPr lang="en-US" altLang="zh-CN" sz="2400" b="0" i="0" u="none" strike="noStrike" baseline="0" dirty="0">
                <a:latin typeface="TimesNewRomanPSMT"/>
              </a:rPr>
              <a:t>), ignore this section.</a:t>
            </a:r>
            <a:endParaRPr lang="en-US" altLang="zh-CN" sz="2400" b="1" dirty="0">
              <a:latin typeface="TimesNewRomanPS-BoldMT"/>
            </a:endParaRPr>
          </a:p>
        </p:txBody>
      </p:sp>
      <p:sp>
        <p:nvSpPr>
          <p:cNvPr id="4" name="文本框 3">
            <a:extLst>
              <a:ext uri="{FF2B5EF4-FFF2-40B4-BE49-F238E27FC236}">
                <a16:creationId xmlns:a16="http://schemas.microsoft.com/office/drawing/2014/main" id="{1668ACA0-9C8D-25BB-EE52-B3F43DD87BA9}"/>
              </a:ext>
            </a:extLst>
          </p:cNvPr>
          <p:cNvSpPr txBox="1"/>
          <p:nvPr/>
        </p:nvSpPr>
        <p:spPr>
          <a:xfrm>
            <a:off x="3779153" y="416567"/>
            <a:ext cx="6094602" cy="523220"/>
          </a:xfrm>
          <a:prstGeom prst="rect">
            <a:avLst/>
          </a:prstGeom>
          <a:noFill/>
        </p:spPr>
        <p:txBody>
          <a:bodyPr wrap="square">
            <a:spAutoFit/>
          </a:bodyPr>
          <a:lstStyle/>
          <a:p>
            <a:pPr algn="l"/>
            <a:r>
              <a:rPr lang="en-US" altLang="zh-CN" sz="2800" b="1" i="0" u="none" strike="noStrike" baseline="0" dirty="0">
                <a:solidFill>
                  <a:srgbClr val="0070C0"/>
                </a:solidFill>
                <a:latin typeface="TimesNewRomanPS-BoldMT"/>
              </a:rPr>
              <a:t>How to set optimization parameters?</a:t>
            </a:r>
            <a:endParaRPr lang="zh-CN" altLang="en-US" sz="2800" dirty="0">
              <a:solidFill>
                <a:srgbClr val="0070C0"/>
              </a:solidFill>
            </a:endParaRPr>
          </a:p>
        </p:txBody>
      </p:sp>
      <p:sp>
        <p:nvSpPr>
          <p:cNvPr id="7" name="文本框 6">
            <a:extLst>
              <a:ext uri="{FF2B5EF4-FFF2-40B4-BE49-F238E27FC236}">
                <a16:creationId xmlns:a16="http://schemas.microsoft.com/office/drawing/2014/main" id="{2574F1EF-099D-C000-2DA8-22DA117F0924}"/>
              </a:ext>
            </a:extLst>
          </p:cNvPr>
          <p:cNvSpPr txBox="1"/>
          <p:nvPr/>
        </p:nvSpPr>
        <p:spPr>
          <a:xfrm>
            <a:off x="5458000" y="2687732"/>
            <a:ext cx="5238576" cy="3200876"/>
          </a:xfrm>
          <a:prstGeom prst="rect">
            <a:avLst/>
          </a:prstGeom>
          <a:solidFill>
            <a:schemeClr val="bg2"/>
          </a:solidFill>
        </p:spPr>
        <p:txBody>
          <a:bodyPr wrap="square">
            <a:spAutoFit/>
          </a:bodyPr>
          <a:lstStyle/>
          <a:p>
            <a:pPr algn="l"/>
            <a:r>
              <a:rPr lang="en-US" altLang="zh-CN" sz="2200" b="1" i="0" u="none" strike="noStrike" baseline="0" dirty="0">
                <a:latin typeface="TimesNewRomanPS-BoldMT"/>
              </a:rPr>
              <a:t>### Optimize Parameters ###</a:t>
            </a:r>
          </a:p>
          <a:p>
            <a:pPr algn="l"/>
            <a:r>
              <a:rPr lang="en-US" altLang="zh-CN" sz="2000" b="1" i="0" u="none" strike="noStrike" baseline="0" dirty="0">
                <a:latin typeface="TimesNewRomanPS-BoldMT"/>
              </a:rPr>
              <a:t>parameters value </a:t>
            </a:r>
            <a:r>
              <a:rPr lang="en-US" altLang="zh-CN" sz="2000" b="1" i="0" u="none" strike="noStrike" baseline="0" dirty="0" err="1">
                <a:latin typeface="TimesNewRomanPS-BoldMT"/>
              </a:rPr>
              <a:t>value</a:t>
            </a:r>
            <a:r>
              <a:rPr lang="en-US" altLang="zh-CN" sz="2000" b="1" i="0" u="none" strike="noStrike" baseline="0" dirty="0">
                <a:latin typeface="TimesNewRomanPS-BoldMT"/>
              </a:rPr>
              <a:t> explanation</a:t>
            </a:r>
          </a:p>
          <a:p>
            <a:pPr algn="l"/>
            <a:r>
              <a:rPr lang="en-US" altLang="zh-CN" sz="2000" b="0" i="0" u="none" strike="noStrike" baseline="0" dirty="0">
                <a:latin typeface="TimesNewRomanPSMT"/>
              </a:rPr>
              <a:t>Pars lower upper</a:t>
            </a:r>
          </a:p>
          <a:p>
            <a:pPr algn="l"/>
            <a:r>
              <a:rPr lang="en-US" altLang="zh-CN" sz="2000" b="0" i="0" u="none" strike="noStrike" baseline="0" dirty="0" err="1">
                <a:latin typeface="TimesNewRomanPSMT"/>
              </a:rPr>
              <a:t>Asec</a:t>
            </a:r>
            <a:r>
              <a:rPr lang="en-US" altLang="zh-CN" sz="2000" b="0" i="0" u="none" strike="noStrike" baseline="0" dirty="0">
                <a:latin typeface="TimesNewRomanPSMT"/>
              </a:rPr>
              <a:t> 2 6 #longevity of </a:t>
            </a:r>
            <a:r>
              <a:rPr lang="en-US" altLang="zh-CN" sz="2000" b="0" i="0" u="none" strike="noStrike" baseline="0" dirty="0" err="1">
                <a:latin typeface="TimesNewRomanPSMT"/>
              </a:rPr>
              <a:t>mutiplier</a:t>
            </a:r>
            <a:r>
              <a:rPr lang="en-US" altLang="zh-CN" sz="2000" b="0" i="0" u="none" strike="noStrike" baseline="0" dirty="0">
                <a:latin typeface="TimesNewRomanPSMT"/>
              </a:rPr>
              <a:t> A</a:t>
            </a:r>
          </a:p>
          <a:p>
            <a:pPr algn="l"/>
            <a:r>
              <a:rPr lang="en-US" altLang="zh-CN" sz="2000" b="0" i="0" u="none" strike="noStrike" baseline="0" dirty="0" err="1">
                <a:latin typeface="TimesNewRomanPSMT"/>
              </a:rPr>
              <a:t>Bsec</a:t>
            </a:r>
            <a:r>
              <a:rPr lang="en-US" altLang="zh-CN" sz="2000" b="0" i="0" u="none" strike="noStrike" baseline="0" dirty="0">
                <a:latin typeface="TimesNewRomanPSMT"/>
              </a:rPr>
              <a:t> 1 4 #longevity of </a:t>
            </a:r>
            <a:r>
              <a:rPr lang="en-US" altLang="zh-CN" sz="2000" b="0" i="0" u="none" strike="noStrike" baseline="0" dirty="0" err="1">
                <a:latin typeface="TimesNewRomanPSMT"/>
              </a:rPr>
              <a:t>mutiplier</a:t>
            </a:r>
            <a:r>
              <a:rPr lang="en-US" altLang="zh-CN" sz="2000" b="0" i="0" u="none" strike="noStrike" baseline="0" dirty="0">
                <a:latin typeface="TimesNewRomanPSMT"/>
              </a:rPr>
              <a:t> B</a:t>
            </a:r>
          </a:p>
          <a:p>
            <a:pPr algn="l"/>
            <a:r>
              <a:rPr lang="en-US" altLang="zh-CN" sz="2000" b="0" i="0" u="none" strike="noStrike" baseline="0" dirty="0" err="1">
                <a:latin typeface="TimesNewRomanPSMT"/>
              </a:rPr>
              <a:t>Csec</a:t>
            </a:r>
            <a:r>
              <a:rPr lang="en-US" altLang="zh-CN" sz="2000" b="0" i="0" u="none" strike="noStrike" baseline="0" dirty="0">
                <a:latin typeface="TimesNewRomanPSMT"/>
              </a:rPr>
              <a:t> 2 6 #longevity of </a:t>
            </a:r>
            <a:r>
              <a:rPr lang="en-US" altLang="zh-CN" sz="2000" b="0" i="0" u="none" strike="noStrike" baseline="0" dirty="0" err="1">
                <a:latin typeface="TimesNewRomanPSMT"/>
              </a:rPr>
              <a:t>mutiplier</a:t>
            </a:r>
            <a:r>
              <a:rPr lang="en-US" altLang="zh-CN" sz="2000" b="0" i="0" u="none" strike="noStrike" baseline="0" dirty="0">
                <a:latin typeface="TimesNewRomanPSMT"/>
              </a:rPr>
              <a:t> C</a:t>
            </a:r>
          </a:p>
          <a:p>
            <a:pPr algn="l"/>
            <a:r>
              <a:rPr lang="en-US" altLang="zh-CN" sz="2000" b="0" i="0" u="none" strike="noStrike" baseline="0" dirty="0" err="1">
                <a:latin typeface="TimesNewRomanPSMT"/>
              </a:rPr>
              <a:t>YABd</a:t>
            </a:r>
            <a:r>
              <a:rPr lang="en-US" altLang="zh-CN" sz="2000" b="0" i="0" u="none" strike="noStrike" baseline="0" dirty="0">
                <a:latin typeface="TimesNewRomanPSMT"/>
              </a:rPr>
              <a:t> 2 6 #longevity of hybrid dam AB</a:t>
            </a:r>
          </a:p>
          <a:p>
            <a:pPr algn="l"/>
            <a:r>
              <a:rPr lang="en-US" altLang="zh-CN" sz="2000" b="0" i="0" u="none" strike="noStrike" baseline="0" dirty="0" err="1">
                <a:latin typeface="TimesNewRomanPSMT"/>
              </a:rPr>
              <a:t>NAd</a:t>
            </a:r>
            <a:r>
              <a:rPr lang="en-US" altLang="zh-CN" sz="2000" b="0" i="0" u="none" strike="noStrike" baseline="0" dirty="0">
                <a:latin typeface="TimesNewRomanPSMT"/>
              </a:rPr>
              <a:t> 600 3000 #female size of nucleus A</a:t>
            </a:r>
          </a:p>
          <a:p>
            <a:pPr algn="l"/>
            <a:r>
              <a:rPr lang="en-US" altLang="zh-CN" sz="2000" b="0" i="0" u="none" strike="noStrike" baseline="0" dirty="0" err="1">
                <a:latin typeface="TimesNewRomanPSMT"/>
              </a:rPr>
              <a:t>NBd</a:t>
            </a:r>
            <a:r>
              <a:rPr lang="en-US" altLang="zh-CN" sz="2000" b="0" i="0" u="none" strike="noStrike" baseline="0" dirty="0">
                <a:latin typeface="TimesNewRomanPSMT"/>
              </a:rPr>
              <a:t> 300 1000 #female size of nucleus B</a:t>
            </a:r>
          </a:p>
          <a:p>
            <a:pPr algn="l"/>
            <a:r>
              <a:rPr lang="en-US" altLang="zh-CN" sz="2000" b="0" i="0" u="none" strike="noStrike" baseline="0" dirty="0" err="1">
                <a:latin typeface="TimesNewRomanPSMT"/>
              </a:rPr>
              <a:t>NCd</a:t>
            </a:r>
            <a:r>
              <a:rPr lang="en-US" altLang="zh-CN" sz="2000" b="0" i="0" u="none" strike="noStrike" baseline="0" dirty="0">
                <a:latin typeface="TimesNewRomanPSMT"/>
              </a:rPr>
              <a:t> 300 1000 #female size of nucleus C</a:t>
            </a:r>
          </a:p>
        </p:txBody>
      </p:sp>
      <p:sp>
        <p:nvSpPr>
          <p:cNvPr id="5" name="文本框 4">
            <a:extLst>
              <a:ext uri="{FF2B5EF4-FFF2-40B4-BE49-F238E27FC236}">
                <a16:creationId xmlns:a16="http://schemas.microsoft.com/office/drawing/2014/main" id="{DDA7F052-3DB5-6F61-A5C4-AC3598C7EB49}"/>
              </a:ext>
            </a:extLst>
          </p:cNvPr>
          <p:cNvSpPr txBox="1"/>
          <p:nvPr/>
        </p:nvSpPr>
        <p:spPr>
          <a:xfrm>
            <a:off x="962025" y="2888218"/>
            <a:ext cx="4114800" cy="707886"/>
          </a:xfrm>
          <a:prstGeom prst="rect">
            <a:avLst/>
          </a:prstGeom>
          <a:noFill/>
        </p:spPr>
        <p:txBody>
          <a:bodyPr wrap="square">
            <a:spAutoFit/>
          </a:bodyPr>
          <a:lstStyle/>
          <a:p>
            <a:r>
              <a:rPr lang="en-US" altLang="zh-CN" sz="2000" b="1" i="0" u="none" strike="noStrike" baseline="0" dirty="0">
                <a:latin typeface="TimesNewRomanPSMT"/>
              </a:rPr>
              <a:t>Example of a three-way crossbreeding system optimization:</a:t>
            </a:r>
            <a:endParaRPr lang="zh-CN" altLang="en-US" sz="2000" b="1" dirty="0"/>
          </a:p>
        </p:txBody>
      </p:sp>
    </p:spTree>
    <p:extLst>
      <p:ext uri="{BB962C8B-B14F-4D97-AF65-F5344CB8AC3E}">
        <p14:creationId xmlns:p14="http://schemas.microsoft.com/office/powerpoint/2010/main" val="1308459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24DA3B9-4459-5449-83D4-1DFE57377C86}"/>
              </a:ext>
            </a:extLst>
          </p:cNvPr>
          <p:cNvSpPr txBox="1"/>
          <p:nvPr/>
        </p:nvSpPr>
        <p:spPr>
          <a:xfrm>
            <a:off x="404769" y="385790"/>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runOpt</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B0C9506D-3A84-35E4-CACF-8A754733F0A4}"/>
              </a:ext>
            </a:extLst>
          </p:cNvPr>
          <p:cNvSpPr txBox="1"/>
          <p:nvPr/>
        </p:nvSpPr>
        <p:spPr>
          <a:xfrm>
            <a:off x="866163" y="1446911"/>
            <a:ext cx="11046204" cy="1384995"/>
          </a:xfrm>
          <a:prstGeom prst="rect">
            <a:avLst/>
          </a:prstGeom>
          <a:noFill/>
        </p:spPr>
        <p:txBody>
          <a:bodyPr wrap="square">
            <a:spAutoFit/>
          </a:bodyPr>
          <a:lstStyle/>
          <a:p>
            <a:r>
              <a:rPr lang="en-US" altLang="zh-CN" sz="2800" b="1" dirty="0">
                <a:solidFill>
                  <a:srgbClr val="1F2328"/>
                </a:solidFill>
                <a:latin typeface="-apple-system"/>
              </a:rPr>
              <a:t>Demo 3:</a:t>
            </a:r>
          </a:p>
          <a:p>
            <a:r>
              <a:rPr lang="en-US" altLang="zh-CN" sz="2800" dirty="0">
                <a:solidFill>
                  <a:srgbClr val="1F2328"/>
                </a:solidFill>
                <a:latin typeface="-apple-system"/>
              </a:rPr>
              <a:t> Running the breeding program optimization of a three-way crossbreeding system under a fixed number of final productions.</a:t>
            </a:r>
            <a:endParaRPr lang="zh-CN" altLang="en-US" sz="2800" dirty="0"/>
          </a:p>
        </p:txBody>
      </p:sp>
      <p:sp>
        <p:nvSpPr>
          <p:cNvPr id="8" name="文本框 7">
            <a:extLst>
              <a:ext uri="{FF2B5EF4-FFF2-40B4-BE49-F238E27FC236}">
                <a16:creationId xmlns:a16="http://schemas.microsoft.com/office/drawing/2014/main" id="{20B254DB-6247-8480-D19D-887EA381E5B3}"/>
              </a:ext>
            </a:extLst>
          </p:cNvPr>
          <p:cNvSpPr txBox="1"/>
          <p:nvPr/>
        </p:nvSpPr>
        <p:spPr>
          <a:xfrm>
            <a:off x="954597" y="3308252"/>
            <a:ext cx="10282806" cy="1938992"/>
          </a:xfrm>
          <a:prstGeom prst="rect">
            <a:avLst/>
          </a:prstGeom>
          <a:solidFill>
            <a:schemeClr val="bg2"/>
          </a:solidFill>
        </p:spPr>
        <p:txBody>
          <a:bodyPr wrap="square">
            <a:spAutoFit/>
          </a:bodyPr>
          <a:lstStyle/>
          <a:p>
            <a:pPr algn="l"/>
            <a:r>
              <a:rPr lang="en-US" altLang="zh-CN" sz="2400" b="0" i="0" dirty="0" err="1">
                <a:solidFill>
                  <a:srgbClr val="1F2328"/>
                </a:solidFill>
                <a:effectLst/>
                <a:latin typeface="-apple-system"/>
              </a:rPr>
              <a:t>setwd</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example_prm</a:t>
            </a:r>
            <a:r>
              <a:rPr lang="en-US" altLang="zh-CN" sz="2400" b="0" i="0" dirty="0">
                <a:solidFill>
                  <a:srgbClr val="1F2328"/>
                </a:solidFill>
                <a:effectLst/>
                <a:latin typeface="-apple-system"/>
              </a:rPr>
              <a:t>")</a:t>
            </a:r>
          </a:p>
          <a:p>
            <a:pPr algn="l"/>
            <a:endParaRPr lang="en-US" altLang="zh-CN" sz="2400" dirty="0">
              <a:solidFill>
                <a:srgbClr val="1F2328"/>
              </a:solidFill>
              <a:latin typeface="-apple-system"/>
            </a:endParaRPr>
          </a:p>
          <a:p>
            <a:pPr algn="l"/>
            <a:r>
              <a:rPr lang="en-US" altLang="zh-CN" sz="2400" b="0" i="0" dirty="0">
                <a:solidFill>
                  <a:srgbClr val="1F2328"/>
                </a:solidFill>
                <a:effectLst/>
                <a:latin typeface="-apple-system"/>
              </a:rPr>
              <a:t> res = </a:t>
            </a:r>
            <a:r>
              <a:rPr lang="en-US" altLang="zh-CN" sz="2400" b="0" i="0" dirty="0" err="1">
                <a:solidFill>
                  <a:srgbClr val="1F2328"/>
                </a:solidFill>
                <a:effectLst/>
                <a:latin typeface="-apple-system"/>
              </a:rPr>
              <a:t>runOpt</a:t>
            </a:r>
            <a:r>
              <a:rPr lang="en-US" altLang="zh-CN" sz="2400" b="0" i="0" dirty="0">
                <a:solidFill>
                  <a:srgbClr val="1F2328"/>
                </a:solidFill>
                <a:effectLst/>
                <a:latin typeface="-apple-system"/>
              </a:rPr>
              <a:t>(</a:t>
            </a:r>
            <a:r>
              <a:rPr lang="en-US" altLang="zh-CN" sz="2400" b="0" i="0" dirty="0" err="1">
                <a:solidFill>
                  <a:srgbClr val="1F2328"/>
                </a:solidFill>
                <a:effectLst/>
                <a:latin typeface="-apple-system"/>
              </a:rPr>
              <a:t>prm_path</a:t>
            </a:r>
            <a:r>
              <a:rPr lang="en-US" altLang="zh-CN" sz="2400" b="0" i="0" dirty="0">
                <a:solidFill>
                  <a:srgbClr val="1F2328"/>
                </a:solidFill>
                <a:effectLst/>
                <a:latin typeface="-apple-system"/>
              </a:rPr>
              <a:t> = "prm_Opt.txt")</a:t>
            </a:r>
          </a:p>
          <a:p>
            <a:pPr algn="l"/>
            <a:endParaRPr lang="en-US" altLang="zh-CN" sz="2400" b="0" i="0" dirty="0">
              <a:solidFill>
                <a:srgbClr val="1F2328"/>
              </a:solidFill>
              <a:effectLst/>
              <a:latin typeface="-apple-system"/>
            </a:endParaRPr>
          </a:p>
          <a:p>
            <a:pPr algn="l"/>
            <a:r>
              <a:rPr lang="en-US" altLang="zh-CN" sz="2400" b="0" i="0" dirty="0" err="1">
                <a:solidFill>
                  <a:srgbClr val="1F2328"/>
                </a:solidFill>
                <a:effectLst/>
                <a:latin typeface="-apple-system"/>
              </a:rPr>
              <a:t>getOptRes</a:t>
            </a:r>
            <a:r>
              <a:rPr lang="en-US" altLang="zh-CN" sz="2400" b="0" i="0" dirty="0">
                <a:solidFill>
                  <a:srgbClr val="1F2328"/>
                </a:solidFill>
                <a:effectLst/>
                <a:latin typeface="-apple-system"/>
              </a:rPr>
              <a:t>(res = res, </a:t>
            </a:r>
            <a:r>
              <a:rPr lang="en-US" altLang="zh-CN" sz="2400" b="0" i="0" dirty="0" err="1">
                <a:solidFill>
                  <a:srgbClr val="1F2328"/>
                </a:solidFill>
                <a:effectLst/>
                <a:latin typeface="-apple-system"/>
              </a:rPr>
              <a:t>out_path</a:t>
            </a:r>
            <a:r>
              <a:rPr lang="en-US" altLang="zh-CN" sz="2400" b="0" i="0" dirty="0">
                <a:solidFill>
                  <a:srgbClr val="1F2328"/>
                </a:solidFill>
                <a:effectLst/>
                <a:latin typeface="-apple-system"/>
              </a:rPr>
              <a:t> = </a:t>
            </a:r>
            <a:r>
              <a:rPr lang="en-US" altLang="zh-CN" sz="2400" b="0" i="0" dirty="0" err="1">
                <a:solidFill>
                  <a:srgbClr val="1F2328"/>
                </a:solidFill>
                <a:effectLst/>
                <a:latin typeface="-apple-system"/>
              </a:rPr>
              <a:t>out_path</a:t>
            </a:r>
            <a:r>
              <a:rPr lang="en-US" altLang="zh-CN" sz="2400" b="0" i="0" dirty="0">
                <a:solidFill>
                  <a:srgbClr val="1F2328"/>
                </a:solidFill>
                <a:effectLst/>
                <a:latin typeface="-apple-system"/>
              </a:rPr>
              <a:t>) # transfer the results to xlsx file</a:t>
            </a:r>
          </a:p>
        </p:txBody>
      </p:sp>
    </p:spTree>
    <p:extLst>
      <p:ext uri="{BB962C8B-B14F-4D97-AF65-F5344CB8AC3E}">
        <p14:creationId xmlns:p14="http://schemas.microsoft.com/office/powerpoint/2010/main" val="2574028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78A756E-6CB1-182F-6F2D-546CC836A5F6}"/>
              </a:ext>
            </a:extLst>
          </p:cNvPr>
          <p:cNvPicPr>
            <a:picLocks noChangeAspect="1"/>
          </p:cNvPicPr>
          <p:nvPr/>
        </p:nvPicPr>
        <p:blipFill>
          <a:blip r:embed="rId2"/>
          <a:srcRect r="59188"/>
          <a:stretch/>
        </p:blipFill>
        <p:spPr>
          <a:xfrm>
            <a:off x="6400818" y="133396"/>
            <a:ext cx="5662551" cy="6435004"/>
          </a:xfrm>
          <a:prstGeom prst="rect">
            <a:avLst/>
          </a:prstGeom>
        </p:spPr>
      </p:pic>
      <p:sp>
        <p:nvSpPr>
          <p:cNvPr id="6" name="文本框 5">
            <a:extLst>
              <a:ext uri="{FF2B5EF4-FFF2-40B4-BE49-F238E27FC236}">
                <a16:creationId xmlns:a16="http://schemas.microsoft.com/office/drawing/2014/main" id="{B24DA3B9-4459-5449-83D4-1DFE57377C86}"/>
              </a:ext>
            </a:extLst>
          </p:cNvPr>
          <p:cNvSpPr txBox="1"/>
          <p:nvPr/>
        </p:nvSpPr>
        <p:spPr>
          <a:xfrm>
            <a:off x="216406" y="242454"/>
            <a:ext cx="6094602" cy="584775"/>
          </a:xfrm>
          <a:prstGeom prst="rect">
            <a:avLst/>
          </a:prstGeom>
          <a:noFill/>
        </p:spPr>
        <p:txBody>
          <a:bodyPr wrap="square">
            <a:spAutoFit/>
          </a:bodyPr>
          <a:lstStyle/>
          <a:p>
            <a:pPr marL="457200" indent="-457200">
              <a:buFont typeface="Wingdings" panose="05000000000000000000" pitchFamily="2" charset="2"/>
              <a:buChar char="Ø"/>
            </a:pPr>
            <a:r>
              <a:rPr lang="en-US" altLang="zh-CN" sz="3200" b="1" u="none" strike="noStrike" baseline="0" dirty="0" err="1">
                <a:latin typeface="+mj-lt"/>
              </a:rPr>
              <a:t>runOpt</a:t>
            </a:r>
            <a:r>
              <a:rPr lang="en-US" altLang="zh-CN" sz="3200" b="1" u="none" strike="noStrike" baseline="0" dirty="0">
                <a:latin typeface="+mj-lt"/>
              </a:rPr>
              <a:t>( )</a:t>
            </a:r>
            <a:endParaRPr lang="zh-CN" altLang="en-US" sz="3200" dirty="0">
              <a:latin typeface="+mj-lt"/>
            </a:endParaRPr>
          </a:p>
        </p:txBody>
      </p:sp>
      <p:sp>
        <p:nvSpPr>
          <p:cNvPr id="5" name="文本框 4">
            <a:extLst>
              <a:ext uri="{FF2B5EF4-FFF2-40B4-BE49-F238E27FC236}">
                <a16:creationId xmlns:a16="http://schemas.microsoft.com/office/drawing/2014/main" id="{E76198C2-6D95-8CC0-B8F2-1FB867CAE5F7}"/>
              </a:ext>
            </a:extLst>
          </p:cNvPr>
          <p:cNvSpPr txBox="1"/>
          <p:nvPr/>
        </p:nvSpPr>
        <p:spPr>
          <a:xfrm>
            <a:off x="633040" y="1368626"/>
            <a:ext cx="6631826" cy="523220"/>
          </a:xfrm>
          <a:prstGeom prst="rect">
            <a:avLst/>
          </a:prstGeom>
          <a:noFill/>
        </p:spPr>
        <p:txBody>
          <a:bodyPr wrap="square">
            <a:spAutoFit/>
          </a:bodyPr>
          <a:lstStyle/>
          <a:p>
            <a:r>
              <a:rPr lang="en-US" altLang="zh-CN" sz="2800" b="1" dirty="0">
                <a:solidFill>
                  <a:srgbClr val="1F2328"/>
                </a:solidFill>
                <a:latin typeface="-apple-system"/>
              </a:rPr>
              <a:t>Results stored</a:t>
            </a:r>
            <a:r>
              <a:rPr lang="zh-CN" altLang="en-US" sz="2800" b="1" dirty="0">
                <a:solidFill>
                  <a:srgbClr val="1F2328"/>
                </a:solidFill>
                <a:latin typeface="-apple-system"/>
              </a:rPr>
              <a:t> </a:t>
            </a:r>
            <a:r>
              <a:rPr lang="en-US" altLang="zh-CN" sz="2800" b="1" dirty="0">
                <a:solidFill>
                  <a:srgbClr val="1F2328"/>
                </a:solidFill>
                <a:latin typeface="-apple-system"/>
              </a:rPr>
              <a:t>in</a:t>
            </a:r>
            <a:r>
              <a:rPr lang="zh-CN" altLang="en-US" sz="2800" b="1" dirty="0">
                <a:solidFill>
                  <a:srgbClr val="1F2328"/>
                </a:solidFill>
                <a:latin typeface="-apple-system"/>
              </a:rPr>
              <a:t> </a:t>
            </a:r>
            <a:r>
              <a:rPr lang="en-US" altLang="zh-CN" sz="2800" b="1" dirty="0" err="1">
                <a:solidFill>
                  <a:srgbClr val="1F2328"/>
                </a:solidFill>
                <a:latin typeface="-apple-system"/>
              </a:rPr>
              <a:t>results.Rdata</a:t>
            </a:r>
            <a:r>
              <a:rPr lang="en-US" altLang="zh-CN" sz="2800" b="1" dirty="0">
                <a:solidFill>
                  <a:srgbClr val="1F2328"/>
                </a:solidFill>
                <a:latin typeface="-apple-system"/>
              </a:rPr>
              <a:t>.</a:t>
            </a:r>
            <a:endParaRPr lang="zh-CN" altLang="en-US" sz="2800" dirty="0"/>
          </a:p>
        </p:txBody>
      </p:sp>
      <p:sp>
        <p:nvSpPr>
          <p:cNvPr id="32" name="文本框 31">
            <a:extLst>
              <a:ext uri="{FF2B5EF4-FFF2-40B4-BE49-F238E27FC236}">
                <a16:creationId xmlns:a16="http://schemas.microsoft.com/office/drawing/2014/main" id="{7419531F-D626-4790-52B2-71FF4705B261}"/>
              </a:ext>
            </a:extLst>
          </p:cNvPr>
          <p:cNvSpPr txBox="1"/>
          <p:nvPr/>
        </p:nvSpPr>
        <p:spPr>
          <a:xfrm>
            <a:off x="515267" y="2660463"/>
            <a:ext cx="5189248" cy="1569660"/>
          </a:xfrm>
          <a:prstGeom prst="rect">
            <a:avLst/>
          </a:prstGeom>
          <a:noFill/>
        </p:spPr>
        <p:txBody>
          <a:bodyPr wrap="square">
            <a:spAutoFit/>
          </a:bodyPr>
          <a:lstStyle/>
          <a:p>
            <a:pPr marL="342900" indent="-342900">
              <a:buFont typeface="Arial" panose="020B0604020202020204" pitchFamily="34" charset="0"/>
              <a:buChar char="•"/>
            </a:pPr>
            <a:r>
              <a:rPr lang="en-US" altLang="zh-CN" sz="2400" dirty="0"/>
              <a:t>The parameter samples, the final profit and the iteration numbers(</a:t>
            </a:r>
            <a:r>
              <a:rPr lang="en-US" altLang="zh-CN" sz="2400" b="1" dirty="0"/>
              <a:t>dob</a:t>
            </a:r>
            <a:r>
              <a:rPr lang="en-US" altLang="zh-CN" sz="2400" dirty="0"/>
              <a:t>) are all listed, as well as some other information about the optimization. </a:t>
            </a:r>
            <a:endParaRPr lang="zh-CN" altLang="en-US" sz="2400" dirty="0"/>
          </a:p>
        </p:txBody>
      </p:sp>
    </p:spTree>
    <p:extLst>
      <p:ext uri="{BB962C8B-B14F-4D97-AF65-F5344CB8AC3E}">
        <p14:creationId xmlns:p14="http://schemas.microsoft.com/office/powerpoint/2010/main" val="1167290294"/>
      </p:ext>
    </p:extLst>
  </p:cSld>
  <p:clrMapOvr>
    <a:masterClrMapping/>
  </p:clrMapOvr>
</p:sld>
</file>

<file path=ppt/theme/theme1.xml><?xml version="1.0" encoding="utf-8"?>
<a:theme xmlns:a="http://schemas.openxmlformats.org/drawingml/2006/main" name="回顾">
  <a:themeElements>
    <a:clrScheme name="回顾">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383</TotalTime>
  <Words>1596</Words>
  <Application>Microsoft Office PowerPoint</Application>
  <PresentationFormat>宽屏</PresentationFormat>
  <Paragraphs>160</Paragraphs>
  <Slides>24</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-apple-system</vt:lpstr>
      <vt:lpstr>TimesNewRomanPS-BoldItalicMT</vt:lpstr>
      <vt:lpstr>TimesNewRomanPS-BoldMT</vt:lpstr>
      <vt:lpstr>TimesNewRomanPSMT</vt:lpstr>
      <vt:lpstr>等线</vt:lpstr>
      <vt:lpstr>Arial</vt:lpstr>
      <vt:lpstr>Calibri</vt:lpstr>
      <vt:lpstr>Calibri Light</vt:lpstr>
      <vt:lpstr>Wingdings</vt:lpstr>
      <vt:lpstr>回顾</vt:lpstr>
      <vt:lpstr>GOplan Instruction</vt:lpstr>
      <vt:lpstr>Introduction</vt:lpstr>
      <vt:lpstr>Installation</vt:lpstr>
      <vt:lpstr>PowerPoint 演示文稿</vt:lpstr>
      <vt:lpstr>PowerPoint 演示文稿</vt:lpstr>
      <vt:lpstr>PowerPoint 演示文稿</vt:lpstr>
      <vt:lpstr>PowerPoint 演示文稿</vt:lpstr>
      <vt:lpstr>PowerPoint 演示文稿</vt:lpstr>
      <vt:lpstr>Functions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Qianqian Huang</dc:creator>
  <cp:lastModifiedBy>Qianqian Huang</cp:lastModifiedBy>
  <cp:revision>18</cp:revision>
  <dcterms:created xsi:type="dcterms:W3CDTF">2024-08-30T18:58:02Z</dcterms:created>
  <dcterms:modified xsi:type="dcterms:W3CDTF">2024-09-08T15:11:42Z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2024-08-30T20:08:02Z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8295582e-1c23-49ee-8c1c-5d61c58db1b4</vt:lpwstr>
  </property>
  <property fmtid="{D5CDD505-2E9C-101B-9397-08002B2CF9AE}" pid="8" name="MSIP_Label_4044bd30-2ed7-4c9d-9d12-46200872a97b_ContentBits">
    <vt:lpwstr>0</vt:lpwstr>
  </property>
</Properties>
</file>